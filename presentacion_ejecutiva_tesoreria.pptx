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280160"/>
            <a:ext cx="731520" cy="73152"/>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058400" cy="3840480"/>
          </a:xfrm>
          <a:prstGeom prst="rect">
            <a:avLst/>
          </a:prstGeom>
          <a:noFill/>
        </p:spPr>
        <p:txBody>
          <a:bodyPr wrap="square">
            <a:spAutoFit/>
          </a:bodyPr>
          <a:lstStyle/>
          <a:p>
            <a:pPr>
              <a:spcAft>
                <a:spcPts val="1400"/>
              </a:spcAft>
              <a:defRPr sz="1200" b="1">
                <a:solidFill>
                  <a:srgbClr val="FF5A1F"/>
                </a:solidFill>
              </a:defRPr>
            </a:pPr>
            <a:r>
              <a:t>PRUEBA TÉCNICA • TECHNICAL LEAD DATA SCIENCE (LIQUIDITY &amp; CASH FLOW)</a:t>
            </a:r>
          </a:p>
          <a:p>
            <a:pPr>
              <a:spcAft>
                <a:spcPts val="1200"/>
              </a:spcAft>
              <a:defRPr sz="2800" b="1">
                <a:solidFill>
                  <a:srgbClr val="FFFFFF"/>
                </a:solidFill>
              </a:defRPr>
            </a:pPr>
            <a:r>
              <a:t>Motor Inteligente de Optimización de Liquidez Multi-Divisa</a:t>
            </a:r>
          </a:p>
          <a:p>
            <a:pPr>
              <a:spcAft>
                <a:spcPts val="2800"/>
              </a:spcAft>
              <a:defRPr sz="1300">
                <a:solidFill>
                  <a:srgbClr val="0EA5E9"/>
                </a:solidFill>
              </a:defRPr>
            </a:pPr>
            <a:r>
              <a:t>Sustentación Estratégica para Comité de Finanzas &amp; Tesorería | Metodología CRISP-DM Industrial</a:t>
            </a:r>
            <a:br/>
            <a:r>
              <a:t>Garantía de 0 Quiebres Operacionales (100% SLA), Eficiencia de Capital (-96.9% Fricción Bancaria) y Solvencia Patrimonial.</a:t>
            </a:r>
          </a:p>
          <a:p>
            <a:pPr>
              <a:defRPr sz="1100">
                <a:solidFill>
                  <a:srgbClr val="64748B"/>
                </a:solidFill>
              </a:defRPr>
            </a:pPr>
            <a:r>
              <a:t>Candidato: Nicolás Méndez Gutiérrez   |   Cobre B2B Payments Infrastructure   |   Septiembre 2026</a:t>
            </a:r>
          </a:p>
        </p:txBody>
      </p:sp>
      <p:sp>
        <p:nvSpPr>
          <p:cNvPr id="5" name="Rounded Rectangle 4"/>
          <p:cNvSpPr/>
          <p:nvPr/>
        </p:nvSpPr>
        <p:spPr>
          <a:xfrm>
            <a:off x="1097280" y="5303520"/>
            <a:ext cx="9966960" cy="914400"/>
          </a:xfrm>
          <a:prstGeom prst="roundRect">
            <a:avLst/>
          </a:prstGeom>
          <a:solidFill>
            <a:srgbClr val="1E293B"/>
          </a:solidFill>
          <a:ln w="12700">
            <a:solidFill>
              <a:srgbClr val="FF5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5440680"/>
            <a:ext cx="9601200" cy="640080"/>
          </a:xfrm>
          <a:prstGeom prst="rect">
            <a:avLst/>
          </a:prstGeom>
          <a:noFill/>
        </p:spPr>
        <p:txBody>
          <a:bodyPr wrap="square">
            <a:spAutoFit/>
          </a:bodyPr>
          <a:lstStyle/>
          <a:p>
            <a:pPr>
              <a:defRPr sz="1100" b="1">
                <a:solidFill>
                  <a:srgbClr val="FFFFFF"/>
                </a:solidFill>
              </a:defRPr>
            </a:pPr>
            <a:r>
              <a:t>ESTRUCTURA DE LA SESIÓN: 8 Secciones Metodológicas (Negocio, Auditoría Forense, Física de Flujos, Modelamiento y Explicabilidad, Validación Empírica, Scorecard Cuantitativo, Arquitectura Productiva, y Transparencia Metodológica con 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1 • BUSINESS UNDERSTANDING</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El Trilema de Tesorería B2B y la Topología de Cuentas</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02 / 11</a:t>
            </a:r>
          </a:p>
        </p:txBody>
      </p:sp>
      <p:sp>
        <p:nvSpPr>
          <p:cNvPr id="6" name="Rounded Rectangle 5"/>
          <p:cNvSpPr/>
          <p:nvPr/>
        </p:nvSpPr>
        <p:spPr>
          <a:xfrm>
            <a:off x="731520" y="1280160"/>
            <a:ext cx="10728655"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332720" cy="274320"/>
          </a:xfrm>
          <a:prstGeom prst="rect">
            <a:avLst/>
          </a:prstGeom>
          <a:noFill/>
        </p:spPr>
        <p:txBody>
          <a:bodyPr wrap="none">
            <a:spAutoFit/>
          </a:bodyPr>
          <a:lstStyle/>
          <a:p>
            <a:pPr>
              <a:defRPr sz="1100" b="1">
                <a:solidFill>
                  <a:srgbClr val="FF5A1F"/>
                </a:solidFill>
              </a:defRPr>
            </a:pPr>
            <a:r>
              <a:t>EL TRILEMA DE OPTIMIZACIÓN FINANCIERA EN COBRE</a:t>
            </a:r>
          </a:p>
        </p:txBody>
      </p:sp>
      <p:sp>
        <p:nvSpPr>
          <p:cNvPr id="8" name="TextBox 7"/>
          <p:cNvSpPr txBox="1"/>
          <p:nvPr/>
        </p:nvSpPr>
        <p:spPr>
          <a:xfrm>
            <a:off x="914400" y="1691640"/>
            <a:ext cx="10332720" cy="1234440"/>
          </a:xfrm>
          <a:prstGeom prst="rect">
            <a:avLst/>
          </a:prstGeom>
          <a:noFill/>
        </p:spPr>
        <p:txBody>
          <a:bodyPr wrap="square" lIns="0" rIns="0" tIns="0" bIns="0">
            <a:spAutoFit/>
          </a:bodyPr>
          <a:lstStyle/>
          <a:p>
            <a:pPr>
              <a:spcAft>
                <a:spcPts val="400"/>
              </a:spcAft>
              <a:defRPr sz="1050">
                <a:solidFill>
                  <a:srgbClr val="0F172A"/>
                </a:solidFill>
              </a:defRPr>
            </a:pPr>
            <a:r>
              <a:t>•  1. Cero Quiebres de Liquidez (SLA 99.9%): Garantizar fondos inmediatos para dispersiones de nómina y pagos corporativos sin rechazos por saldo insuficiente.</a:t>
            </a:r>
          </a:p>
          <a:p>
            <a:pPr>
              <a:spcAft>
                <a:spcPts val="400"/>
              </a:spcAft>
              <a:defRPr sz="1050">
                <a:solidFill>
                  <a:srgbClr val="0F172A"/>
                </a:solidFill>
              </a:defRPr>
            </a:pPr>
            <a:r>
              <a:t>•  2. Minimización de Costos y Fricción Bancaria: Eliminar comisiones SWIFT/ACH recurrentes y sobrecostos por spread cambiario en fondeos reactivos.</a:t>
            </a:r>
          </a:p>
          <a:p>
            <a:pPr>
              <a:spcAft>
                <a:spcPts val="400"/>
              </a:spcAft>
              <a:defRPr sz="1050">
                <a:solidFill>
                  <a:srgbClr val="0F172A"/>
                </a:solidFill>
              </a:defRPr>
            </a:pPr>
            <a:r>
              <a:t>•  3. Maximización del Rendimiento del Float: Mantener el capital consolidado en cuentas remuneradas overnight sin atrapar liquidez ociosa en cuentas operativas.</a:t>
            </a:r>
          </a:p>
        </p:txBody>
      </p:sp>
      <p:sp>
        <p:nvSpPr>
          <p:cNvPr id="9" name="Rounded Rectangle 8"/>
          <p:cNvSpPr/>
          <p:nvPr/>
        </p:nvSpPr>
        <p:spPr>
          <a:xfrm>
            <a:off x="731520" y="3154680"/>
            <a:ext cx="3413455"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46120"/>
            <a:ext cx="3044952" cy="548640"/>
          </a:xfrm>
          <a:prstGeom prst="rect">
            <a:avLst/>
          </a:prstGeom>
          <a:noFill/>
        </p:spPr>
        <p:txBody>
          <a:bodyPr wrap="square">
            <a:spAutoFit/>
          </a:bodyPr>
          <a:lstStyle/>
          <a:p>
            <a:pPr>
              <a:defRPr sz="1100" b="1">
                <a:solidFill>
                  <a:srgbClr val="0EA5E9"/>
                </a:solidFill>
              </a:defRPr>
            </a:pPr>
            <a:r>
              <a:t>ACC-001 • Bancolombia (COP)</a:t>
            </a:r>
          </a:p>
          <a:p>
            <a:pPr>
              <a:defRPr sz="950">
                <a:solidFill>
                  <a:srgbClr val="64748B"/>
                </a:solidFill>
              </a:defRPr>
            </a:pPr>
            <a:r>
              <a:t>Cuenta Matriz &amp; Donante Primario</a:t>
            </a:r>
          </a:p>
        </p:txBody>
      </p:sp>
      <p:sp>
        <p:nvSpPr>
          <p:cNvPr id="11" name="TextBox 10"/>
          <p:cNvSpPr txBox="1"/>
          <p:nvPr/>
        </p:nvSpPr>
        <p:spPr>
          <a:xfrm>
            <a:off x="914400" y="3886200"/>
            <a:ext cx="3044952" cy="1645920"/>
          </a:xfrm>
          <a:prstGeom prst="rect">
            <a:avLst/>
          </a:prstGeom>
          <a:noFill/>
        </p:spPr>
        <p:txBody>
          <a:bodyPr wrap="square" lIns="0" rIns="0" tIns="0" bIns="0">
            <a:spAutoFit/>
          </a:bodyPr>
          <a:lstStyle/>
          <a:p>
            <a:pPr>
              <a:spcAft>
                <a:spcPts val="400"/>
              </a:spcAft>
              <a:defRPr sz="950">
                <a:solidFill>
                  <a:srgbClr val="0F172A"/>
                </a:solidFill>
              </a:defRPr>
            </a:pPr>
            <a:r>
              <a:t>•  Moneda: Pesos Colombianos (COP)</a:t>
            </a:r>
          </a:p>
          <a:p>
            <a:pPr>
              <a:spcAft>
                <a:spcPts val="400"/>
              </a:spcAft>
              <a:defRPr sz="950">
                <a:solidFill>
                  <a:srgbClr val="0F172A"/>
                </a:solidFill>
              </a:defRPr>
            </a:pPr>
            <a:r>
              <a:t>•  Umbral Operativo Mínimo: $1,000M COP</a:t>
            </a:r>
          </a:p>
          <a:p>
            <a:pPr>
              <a:spcAft>
                <a:spcPts val="400"/>
              </a:spcAft>
              <a:defRPr sz="950">
                <a:solidFill>
                  <a:srgbClr val="0F172A"/>
                </a:solidFill>
              </a:defRPr>
            </a:pPr>
            <a:r>
              <a:t>•  Latencia de Fondeo: L = 1 día hábil</a:t>
            </a:r>
          </a:p>
          <a:p>
            <a:pPr>
              <a:spcAft>
                <a:spcPts val="400"/>
              </a:spcAft>
              <a:defRPr sz="950">
                <a:solidFill>
                  <a:srgbClr val="0F172A"/>
                </a:solidFill>
              </a:defRPr>
            </a:pPr>
            <a:r>
              <a:t>•  Rol: Respaldo patrimonial y generador de float; provee fondeo a cuentas filiales.</a:t>
            </a:r>
          </a:p>
        </p:txBody>
      </p:sp>
      <p:sp>
        <p:nvSpPr>
          <p:cNvPr id="12" name="Rounded Rectangle 11"/>
          <p:cNvSpPr/>
          <p:nvPr/>
        </p:nvSpPr>
        <p:spPr>
          <a:xfrm>
            <a:off x="4389120" y="3154680"/>
            <a:ext cx="3413455"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246120"/>
            <a:ext cx="3044952" cy="548640"/>
          </a:xfrm>
          <a:prstGeom prst="rect">
            <a:avLst/>
          </a:prstGeom>
          <a:noFill/>
        </p:spPr>
        <p:txBody>
          <a:bodyPr wrap="square">
            <a:spAutoFit/>
          </a:bodyPr>
          <a:lstStyle/>
          <a:p>
            <a:pPr>
              <a:defRPr sz="1100" b="1">
                <a:solidFill>
                  <a:srgbClr val="FF5A1F"/>
                </a:solidFill>
              </a:defRPr>
            </a:pPr>
            <a:r>
              <a:t>ACC-002 • Chase Bank (USD)</a:t>
            </a:r>
          </a:p>
          <a:p>
            <a:pPr>
              <a:defRPr sz="950">
                <a:solidFill>
                  <a:srgbClr val="64748B"/>
                </a:solidFill>
              </a:defRPr>
            </a:pPr>
            <a:r>
              <a:t>Cuenta de Liquidación Internacional</a:t>
            </a:r>
          </a:p>
        </p:txBody>
      </p:sp>
      <p:sp>
        <p:nvSpPr>
          <p:cNvPr id="14" name="TextBox 13"/>
          <p:cNvSpPr txBox="1"/>
          <p:nvPr/>
        </p:nvSpPr>
        <p:spPr>
          <a:xfrm>
            <a:off x="4572000" y="3886200"/>
            <a:ext cx="3044952" cy="1645920"/>
          </a:xfrm>
          <a:prstGeom prst="rect">
            <a:avLst/>
          </a:prstGeom>
          <a:noFill/>
        </p:spPr>
        <p:txBody>
          <a:bodyPr wrap="square" lIns="0" rIns="0" tIns="0" bIns="0">
            <a:spAutoFit/>
          </a:bodyPr>
          <a:lstStyle/>
          <a:p>
            <a:pPr>
              <a:spcAft>
                <a:spcPts val="400"/>
              </a:spcAft>
              <a:defRPr sz="950">
                <a:solidFill>
                  <a:srgbClr val="0F172A"/>
                </a:solidFill>
              </a:defRPr>
            </a:pPr>
            <a:r>
              <a:t>•  Moneda: Dólares Americanos (USD)</a:t>
            </a:r>
          </a:p>
          <a:p>
            <a:pPr>
              <a:spcAft>
                <a:spcPts val="400"/>
              </a:spcAft>
              <a:defRPr sz="950">
                <a:solidFill>
                  <a:srgbClr val="0F172A"/>
                </a:solidFill>
              </a:defRPr>
            </a:pPr>
            <a:r>
              <a:t>•  Umbral Operativo Mínimo: $100,000 USD</a:t>
            </a:r>
          </a:p>
          <a:p>
            <a:pPr>
              <a:spcAft>
                <a:spcPts val="400"/>
              </a:spcAft>
              <a:defRPr sz="950">
                <a:solidFill>
                  <a:srgbClr val="0F172A"/>
                </a:solidFill>
              </a:defRPr>
            </a:pPr>
            <a:r>
              <a:t>•  Latencia de Fondeo: L = 1 día (SWIFT)</a:t>
            </a:r>
          </a:p>
          <a:p>
            <a:pPr>
              <a:spcAft>
                <a:spcPts val="400"/>
              </a:spcAft>
              <a:defRPr sz="950">
                <a:solidFill>
                  <a:srgbClr val="0F172A"/>
                </a:solidFill>
              </a:defRPr>
            </a:pPr>
            <a:r>
              <a:t>•  Rol: Liquidación cross-border; expuesta a costos fijos ($25 USD) y volatilidad cambiaria.</a:t>
            </a:r>
          </a:p>
        </p:txBody>
      </p:sp>
      <p:sp>
        <p:nvSpPr>
          <p:cNvPr id="15" name="Rounded Rectangle 14"/>
          <p:cNvSpPr/>
          <p:nvPr/>
        </p:nvSpPr>
        <p:spPr>
          <a:xfrm>
            <a:off x="8046720" y="3154680"/>
            <a:ext cx="3413455" cy="2468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246120"/>
            <a:ext cx="3044952" cy="548640"/>
          </a:xfrm>
          <a:prstGeom prst="rect">
            <a:avLst/>
          </a:prstGeom>
          <a:noFill/>
        </p:spPr>
        <p:txBody>
          <a:bodyPr wrap="square">
            <a:spAutoFit/>
          </a:bodyPr>
          <a:lstStyle/>
          <a:p>
            <a:pPr>
              <a:defRPr sz="1100" b="1">
                <a:solidFill>
                  <a:srgbClr val="10B981"/>
                </a:solidFill>
              </a:defRPr>
            </a:pPr>
            <a:r>
              <a:t>ACC-004 • BBVA Bancomer (MXN)</a:t>
            </a:r>
          </a:p>
          <a:p>
            <a:pPr>
              <a:defRPr sz="950">
                <a:solidFill>
                  <a:srgbClr val="64748B"/>
                </a:solidFill>
              </a:defRPr>
            </a:pPr>
            <a:r>
              <a:t>Cuenta de Dispersión Local Inmediata</a:t>
            </a:r>
          </a:p>
        </p:txBody>
      </p:sp>
      <p:sp>
        <p:nvSpPr>
          <p:cNvPr id="17" name="TextBox 16"/>
          <p:cNvSpPr txBox="1"/>
          <p:nvPr/>
        </p:nvSpPr>
        <p:spPr>
          <a:xfrm>
            <a:off x="8229600" y="3886200"/>
            <a:ext cx="3044952" cy="1645920"/>
          </a:xfrm>
          <a:prstGeom prst="rect">
            <a:avLst/>
          </a:prstGeom>
          <a:noFill/>
        </p:spPr>
        <p:txBody>
          <a:bodyPr wrap="square" lIns="0" rIns="0" tIns="0" bIns="0">
            <a:spAutoFit/>
          </a:bodyPr>
          <a:lstStyle/>
          <a:p>
            <a:pPr>
              <a:spcAft>
                <a:spcPts val="400"/>
              </a:spcAft>
              <a:defRPr sz="950">
                <a:solidFill>
                  <a:srgbClr val="0F172A"/>
                </a:solidFill>
              </a:defRPr>
            </a:pPr>
            <a:r>
              <a:t>•  Moneda: Pesos Mexicanos (MXN)</a:t>
            </a:r>
          </a:p>
          <a:p>
            <a:pPr>
              <a:spcAft>
                <a:spcPts val="400"/>
              </a:spcAft>
              <a:defRPr sz="950">
                <a:solidFill>
                  <a:srgbClr val="0F172A"/>
                </a:solidFill>
              </a:defRPr>
            </a:pPr>
            <a:r>
              <a:t>•  Umbral Operativo Mínimo: $40,000,000 MXN</a:t>
            </a:r>
          </a:p>
          <a:p>
            <a:pPr>
              <a:spcAft>
                <a:spcPts val="400"/>
              </a:spcAft>
              <a:defRPr sz="950">
                <a:solidFill>
                  <a:srgbClr val="0F172A"/>
                </a:solidFill>
              </a:defRPr>
            </a:pPr>
            <a:r>
              <a:t>•  Latencia de Fondeo: L = 0 días (SPEI)</a:t>
            </a:r>
          </a:p>
          <a:p>
            <a:pPr>
              <a:spcAft>
                <a:spcPts val="400"/>
              </a:spcAft>
              <a:defRPr sz="950">
                <a:solidFill>
                  <a:srgbClr val="0F172A"/>
                </a:solidFill>
              </a:defRPr>
            </a:pPr>
            <a:r>
              <a:t>•  Rol: Pagos corporativos continuos con picos intensos en ciclos de quincena.</a:t>
            </a:r>
          </a:p>
        </p:txBody>
      </p:sp>
      <p:sp>
        <p:nvSpPr>
          <p:cNvPr id="18" name="Rounded Rectangle 17"/>
          <p:cNvSpPr/>
          <p:nvPr/>
        </p:nvSpPr>
        <p:spPr>
          <a:xfrm>
            <a:off x="731520" y="5760720"/>
            <a:ext cx="10728655" cy="685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33872"/>
            <a:ext cx="10332720" cy="548640"/>
          </a:xfrm>
          <a:prstGeom prst="rect">
            <a:avLst/>
          </a:prstGeom>
          <a:noFill/>
        </p:spPr>
        <p:txBody>
          <a:bodyPr wrap="square">
            <a:spAutoFit/>
          </a:bodyPr>
          <a:lstStyle/>
          <a:p>
            <a:pPr>
              <a:defRPr sz="950" b="1">
                <a:solidFill>
                  <a:srgbClr val="F59E0B"/>
                </a:solidFill>
              </a:defRPr>
            </a:pPr>
            <a:r>
              <a:t>RESTRICCIÓN OPERACIONAL CRÍTICA: Liquidación Asíncrona Estricta (T+L). Los fondos transferidos tardan al menos un día hábil en acreditarse en cuentas internacionales (L=1). Si tesorería reacciona cuando el saldo ya cayó por debajo del umbral, el quiebre de liquidez es inevitable.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2 • DATA UNDERSTANDING &amp; AUDIT</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Diagnóstico Forense y Mitigación de Riesgos Reales de Negocio</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03 / 11</a:t>
            </a:r>
          </a:p>
        </p:txBody>
      </p:sp>
      <p:sp>
        <p:nvSpPr>
          <p:cNvPr id="6" name="Rounded Rectangle 5"/>
          <p:cNvSpPr/>
          <p:nvPr/>
        </p:nvSpPr>
        <p:spPr>
          <a:xfrm>
            <a:off x="731520" y="1280160"/>
            <a:ext cx="621792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5852160" cy="274320"/>
          </a:xfrm>
          <a:prstGeom prst="rect">
            <a:avLst/>
          </a:prstGeom>
          <a:noFill/>
        </p:spPr>
        <p:txBody>
          <a:bodyPr wrap="none">
            <a:spAutoFit/>
          </a:bodyPr>
          <a:lstStyle/>
          <a:p>
            <a:pPr>
              <a:defRPr sz="1100" b="1">
                <a:solidFill>
                  <a:srgbClr val="FF5A1F"/>
                </a:solidFill>
              </a:defRPr>
            </a:pPr>
            <a:r>
              <a:t>DESALINEACIÓN TEMPORAL Y FALACIA DEL "9.6% DE FALTANTES"</a:t>
            </a:r>
          </a:p>
        </p:txBody>
      </p:sp>
      <p:sp>
        <p:nvSpPr>
          <p:cNvPr id="8" name="TextBox 7"/>
          <p:cNvSpPr txBox="1"/>
          <p:nvPr/>
        </p:nvSpPr>
        <p:spPr>
          <a:xfrm>
            <a:off x="914400" y="1691640"/>
            <a:ext cx="5852160" cy="1828800"/>
          </a:xfrm>
          <a:prstGeom prst="rect">
            <a:avLst/>
          </a:prstGeom>
          <a:noFill/>
        </p:spPr>
        <p:txBody>
          <a:bodyPr wrap="square" lIns="0" rIns="0" tIns="0" bIns="0">
            <a:spAutoFit/>
          </a:bodyPr>
          <a:lstStyle/>
          <a:p>
            <a:pPr>
              <a:spcAft>
                <a:spcPts val="400"/>
              </a:spcAft>
              <a:defRPr sz="950">
                <a:solidFill>
                  <a:srgbClr val="0F172A"/>
                </a:solidFill>
              </a:defRPr>
            </a:pPr>
            <a:r>
              <a:t>•  Desfase de Registros: La tabla de transferencias registraba 283 días mientras que la de balances contenía 293 días de operación.</a:t>
            </a:r>
          </a:p>
          <a:p>
            <a:pPr>
              <a:spcAft>
                <a:spcPts val="400"/>
              </a:spcAft>
              <a:defRPr sz="950">
                <a:solidFill>
                  <a:srgbClr val="0F172A"/>
                </a:solidFill>
              </a:defRPr>
            </a:pPr>
            <a:r>
              <a:t>•  Falacia de Faltantes Masivos: El análisis anterior descartó fechas heterogéneas y declaró un falso 9.6% de quiebres de liquidez.</a:t>
            </a:r>
          </a:p>
          <a:p>
            <a:pPr>
              <a:spcAft>
                <a:spcPts val="400"/>
              </a:spcAft>
              <a:defRPr sz="950">
                <a:solidFill>
                  <a:srgbClr val="0F172A"/>
                </a:solidFill>
              </a:defRPr>
            </a:pPr>
            <a:r>
              <a:t>•  Realidad Operativa Saneada: Al alinear el calendario contable continuo de 270 días, se comprobó que solo existieron 19 eventos aislados en los datos crudos.</a:t>
            </a:r>
          </a:p>
          <a:p>
            <a:pPr>
              <a:spcAft>
                <a:spcPts val="400"/>
              </a:spcAft>
              <a:defRPr sz="950">
                <a:solidFill>
                  <a:srgbClr val="0F172A"/>
                </a:solidFill>
              </a:defRPr>
            </a:pPr>
            <a:r>
              <a:t>•  Impacto en Negocio: Evaluar sobre datos desalineados genera alertas falsas de liquidez y compras innecesarias de divisas con sobrecosto cambiario.</a:t>
            </a:r>
          </a:p>
        </p:txBody>
      </p:sp>
      <p:sp>
        <p:nvSpPr>
          <p:cNvPr id="9" name="Rounded Rectangle 8"/>
          <p:cNvSpPr/>
          <p:nvPr/>
        </p:nvSpPr>
        <p:spPr>
          <a:xfrm>
            <a:off x="731520" y="3794760"/>
            <a:ext cx="621792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86200"/>
            <a:ext cx="5852160" cy="274320"/>
          </a:xfrm>
          <a:prstGeom prst="rect">
            <a:avLst/>
          </a:prstGeom>
          <a:noFill/>
        </p:spPr>
        <p:txBody>
          <a:bodyPr wrap="none">
            <a:spAutoFit/>
          </a:bodyPr>
          <a:lstStyle/>
          <a:p>
            <a:pPr>
              <a:defRPr sz="1100" b="1">
                <a:solidFill>
                  <a:srgbClr val="EF4444"/>
                </a:solidFill>
              </a:defRPr>
            </a:pPr>
            <a:r>
              <a:t>ANOMALÍAS NUMÉRICAS Y RECONCILIACIÓN CONTABLE</a:t>
            </a:r>
          </a:p>
        </p:txBody>
      </p:sp>
      <p:sp>
        <p:nvSpPr>
          <p:cNvPr id="11" name="TextBox 10"/>
          <p:cNvSpPr txBox="1"/>
          <p:nvPr/>
        </p:nvSpPr>
        <p:spPr>
          <a:xfrm>
            <a:off x="914400" y="4206240"/>
            <a:ext cx="5852160" cy="2011680"/>
          </a:xfrm>
          <a:prstGeom prst="rect">
            <a:avLst/>
          </a:prstGeom>
          <a:noFill/>
        </p:spPr>
        <p:txBody>
          <a:bodyPr wrap="square" lIns="0" rIns="0" tIns="0" bIns="0">
            <a:spAutoFit/>
          </a:bodyPr>
          <a:lstStyle/>
          <a:p>
            <a:pPr>
              <a:spcAft>
                <a:spcPts val="400"/>
              </a:spcAft>
              <a:defRPr sz="950">
                <a:solidFill>
                  <a:srgbClr val="0F172A"/>
                </a:solidFill>
              </a:defRPr>
            </a:pPr>
            <a:r>
              <a:t>•  Error de Escalamiento 10x: Se identificaron registros en BBVA con un dígito adicional erróneo ($400M MXN en vez de $40M MXN) por descalce en la coma decimal.</a:t>
            </a:r>
          </a:p>
          <a:p>
            <a:pPr>
              <a:spcAft>
                <a:spcPts val="400"/>
              </a:spcAft>
              <a:defRPr sz="950">
                <a:solidFill>
                  <a:srgbClr val="0F172A"/>
                </a:solidFill>
              </a:defRPr>
            </a:pPr>
            <a:r>
              <a:t>•  Transposiciones de Polaridad: Débitos registrados erróneamente como créditos, invirtiendo la dirección de los flujos de dispersión.</a:t>
            </a:r>
          </a:p>
          <a:p>
            <a:pPr>
              <a:spcAft>
                <a:spcPts val="400"/>
              </a:spcAft>
              <a:defRPr sz="950">
                <a:solidFill>
                  <a:srgbClr val="0F172A"/>
                </a:solidFill>
              </a:defRPr>
            </a:pPr>
            <a:r>
              <a:t>•  Ruptura de la Ecuación Contable: En los datos crudos no se cumplía el principio básico de que el saldo de hoy debe igualar el de ayer más ingresos menos egresos.</a:t>
            </a:r>
          </a:p>
          <a:p>
            <a:pPr>
              <a:spcAft>
                <a:spcPts val="400"/>
              </a:spcAft>
              <a:defRPr sz="950">
                <a:solidFill>
                  <a:srgbClr val="0F172A"/>
                </a:solidFill>
              </a:defRPr>
            </a:pPr>
            <a:r>
              <a:t>•  Solución Forense: Pipeline determinístico de reconciliación que recupera el balance real con residuo contable exactamente en cero.</a:t>
            </a:r>
          </a:p>
        </p:txBody>
      </p:sp>
      <p:pic>
        <p:nvPicPr>
          <p:cNvPr id="12" name="Picture 11" descr="chart_forensic_audit.png"/>
          <p:cNvPicPr>
            <a:picLocks noChangeAspect="1"/>
          </p:cNvPicPr>
          <p:nvPr/>
        </p:nvPicPr>
        <p:blipFill>
          <a:blip r:embed="rId2"/>
          <a:stretch>
            <a:fillRect/>
          </a:stretch>
        </p:blipFill>
        <p:spPr>
          <a:xfrm>
            <a:off x="7132320" y="1280160"/>
            <a:ext cx="4327855" cy="5074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3 • DATA PREPARATION &amp; FEATURE TAXONOMY</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Física del Flujo de Caja: Modelado de Flujos Netos vs. Saldos</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04 / 11</a:t>
            </a:r>
          </a:p>
        </p:txBody>
      </p:sp>
      <p:sp>
        <p:nvSpPr>
          <p:cNvPr id="6" name="Rounded Rectangle 5"/>
          <p:cNvSpPr/>
          <p:nvPr/>
        </p:nvSpPr>
        <p:spPr>
          <a:xfrm>
            <a:off x="731520" y="1280160"/>
            <a:ext cx="5212080" cy="5166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846320" cy="320040"/>
          </a:xfrm>
          <a:prstGeom prst="rect">
            <a:avLst/>
          </a:prstGeom>
          <a:noFill/>
        </p:spPr>
        <p:txBody>
          <a:bodyPr wrap="none">
            <a:spAutoFit/>
          </a:bodyPr>
          <a:lstStyle/>
          <a:p>
            <a:pPr>
              <a:defRPr sz="1100" b="1">
                <a:solidFill>
                  <a:srgbClr val="FF5A1F"/>
                </a:solidFill>
              </a:defRPr>
            </a:pPr>
            <a:r>
              <a:t>LA ANALOGÍA ESENCIAL: EL TANQUE DE AGUA VS. EL CAUDAL</a:t>
            </a:r>
          </a:p>
        </p:txBody>
      </p:sp>
      <p:sp>
        <p:nvSpPr>
          <p:cNvPr id="8" name="TextBox 7"/>
          <p:cNvSpPr txBox="1"/>
          <p:nvPr/>
        </p:nvSpPr>
        <p:spPr>
          <a:xfrm>
            <a:off x="914400" y="1828800"/>
            <a:ext cx="4846320" cy="4389120"/>
          </a:xfrm>
          <a:prstGeom prst="rect">
            <a:avLst/>
          </a:prstGeom>
          <a:noFill/>
        </p:spPr>
        <p:txBody>
          <a:bodyPr wrap="square">
            <a:spAutoFit/>
          </a:bodyPr>
          <a:lstStyle/>
          <a:p>
            <a:pPr>
              <a:defRPr b="1" sz="1000">
                <a:solidFill>
                  <a:srgbClr val="0F172A"/>
                </a:solidFill>
              </a:defRPr>
            </a:pPr>
            <a:r>
              <a:t>1. El Error Conceptual Previo: Pronosticar Saldos (Nivel del Tanque)</a:t>
            </a:r>
          </a:p>
          <a:p>
            <a:pPr>
              <a:spcAft>
                <a:spcPts val="800"/>
              </a:spcAft>
              <a:defRPr sz="950">
                <a:solidFill>
                  <a:srgbClr val="64748B"/>
                </a:solidFill>
              </a:defRPr>
            </a:pPr>
            <a:r>
              <a:t>Un saldo bancario funciona como el nivel de agua en un tanque: acumula todo el historial pasado. Predecir directamente el nivel acumulado hace que cualquier pequeño error de hoy se arrastre y se magnifique en el tiempo como una bola de nieve incontrolable.</a:t>
            </a:r>
          </a:p>
          <a:p>
            <a:pPr>
              <a:defRPr b="1" sz="1000">
                <a:solidFill>
                  <a:srgbClr val="0F172A"/>
                </a:solidFill>
              </a:defRPr>
            </a:pPr>
            <a:r>
              <a:t>2. La Formulación Correcta: Pronosticar Flujos Netos (Caudal de la Tubería)</a:t>
            </a:r>
          </a:p>
          <a:p>
            <a:pPr>
              <a:spcAft>
                <a:spcPts val="800"/>
              </a:spcAft>
              <a:defRPr sz="950">
                <a:solidFill>
                  <a:srgbClr val="0F172A"/>
                </a:solidFill>
              </a:defRPr>
            </a:pPr>
            <a:r>
              <a:t>Modelamos el Flujo Neto diario: la diferencia entre lo que entra y lo que sale cada día. El flujo se comporta como el caudal en la tubería: oscila alrededor de una media predecible, no arrastra errores pasados y es cuantitativamente estable.</a:t>
            </a:r>
          </a:p>
          <a:p>
            <a:pPr>
              <a:defRPr b="1" sz="1000">
                <a:solidFill>
                  <a:srgbClr val="0F172A"/>
                </a:solidFill>
              </a:defRPr>
            </a:pPr>
            <a:r>
              <a:t>3. Reconstrucción Contable Exacta del Saldo Futuro</a:t>
            </a:r>
          </a:p>
          <a:p>
            <a:pPr>
              <a:defRPr sz="950">
                <a:solidFill>
                  <a:srgbClr val="10B981"/>
                </a:solidFill>
              </a:defRPr>
            </a:pPr>
            <a:r>
              <a:t>Para saber el saldo de mañana, sumamos al dinero disponible hoy los flujos netos proyectados por el modelo más los fondos que vienen viajando en el sistema. Consistencia contable perfecta sin acumulación de error.</a:t>
            </a:r>
          </a:p>
        </p:txBody>
      </p:sp>
      <p:pic>
        <p:nvPicPr>
          <p:cNvPr id="9" name="Picture 8" descr="chart_flow_seasonality.png"/>
          <p:cNvPicPr>
            <a:picLocks noChangeAspect="1"/>
          </p:cNvPicPr>
          <p:nvPr/>
        </p:nvPicPr>
        <p:blipFill>
          <a:blip r:embed="rId2"/>
          <a:stretch>
            <a:fillRect/>
          </a:stretch>
        </p:blipFill>
        <p:spPr>
          <a:xfrm>
            <a:off x="6217920" y="1280160"/>
            <a:ext cx="5242255" cy="2423160"/>
          </a:xfrm>
          <a:prstGeom prst="rect">
            <a:avLst/>
          </a:prstGeom>
        </p:spPr>
      </p:pic>
      <p:sp>
        <p:nvSpPr>
          <p:cNvPr id="10" name="Rounded Rectangle 9"/>
          <p:cNvSpPr/>
          <p:nvPr/>
        </p:nvSpPr>
        <p:spPr>
          <a:xfrm>
            <a:off x="6217920" y="3794760"/>
            <a:ext cx="5242255"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886200"/>
            <a:ext cx="4873752" cy="320040"/>
          </a:xfrm>
          <a:prstGeom prst="rect">
            <a:avLst/>
          </a:prstGeom>
          <a:noFill/>
        </p:spPr>
        <p:txBody>
          <a:bodyPr wrap="none">
            <a:spAutoFit/>
          </a:bodyPr>
          <a:lstStyle/>
          <a:p>
            <a:pPr>
              <a:defRPr sz="1050" b="1">
                <a:solidFill>
                  <a:srgbClr val="FF5A1F"/>
                </a:solidFill>
              </a:defRPr>
            </a:pPr>
            <a:r>
              <a:t>TAXONOMÍA DE VARIABLES DE NEGOCIO (FEATURE ENGINEERING)</a:t>
            </a:r>
          </a:p>
        </p:txBody>
      </p:sp>
      <p:sp>
        <p:nvSpPr>
          <p:cNvPr id="12" name="TextBox 11"/>
          <p:cNvSpPr txBox="1"/>
          <p:nvPr/>
        </p:nvSpPr>
        <p:spPr>
          <a:xfrm>
            <a:off x="6400800" y="4251960"/>
            <a:ext cx="4873752" cy="2103120"/>
          </a:xfrm>
          <a:prstGeom prst="rect">
            <a:avLst/>
          </a:prstGeom>
          <a:noFill/>
        </p:spPr>
        <p:txBody>
          <a:bodyPr wrap="square" lIns="0" rIns="0" tIns="0" bIns="0">
            <a:spAutoFit/>
          </a:bodyPr>
          <a:lstStyle/>
          <a:p>
            <a:pPr>
              <a:spcAft>
                <a:spcPts val="400"/>
              </a:spcAft>
              <a:defRPr sz="919">
                <a:solidFill>
                  <a:srgbClr val="0F172A"/>
                </a:solidFill>
              </a:defRPr>
            </a:pPr>
            <a:r>
              <a:t>•  Hábitos Semanales B2B: Lunes concentran cobranzas y recaudos corporativos (+); Viernes concentran pagos masivos de facturas (-); Fines de semana con retención por cierre de compensación bancaria.</a:t>
            </a:r>
          </a:p>
          <a:p>
            <a:pPr>
              <a:spcAft>
                <a:spcPts val="400"/>
              </a:spcAft>
              <a:defRPr sz="919">
                <a:solidFill>
                  <a:srgbClr val="0F172A"/>
                </a:solidFill>
              </a:defRPr>
            </a:pPr>
            <a:r>
              <a:t>•  Ciclos de Nómina y Quincena: Ventanas críticas en días 14 al 16 y 29 al 31 del mes. Los egresos se multiplican hasta 3.4 veces respecto a una jornada operativa ordinaria.</a:t>
            </a:r>
          </a:p>
          <a:p>
            <a:pPr>
              <a:spcAft>
                <a:spcPts val="400"/>
              </a:spcAft>
              <a:defRPr sz="919">
                <a:solidFill>
                  <a:srgbClr val="0F172A"/>
                </a:solidFill>
              </a:defRPr>
            </a:pPr>
            <a:r>
              <a:t>•  Memoria y Estabilidad Operativa: Rezagos a 1 día y 7 días que capturan el ciclo semanal y la reversión natural a la media tras picos de desembolso corporativo.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4 • MODELING &amp; EXPLAINABILITY</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Arquitectura de Decisión en Dos Capas y Explicabilidad</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05 / 11</a:t>
            </a:r>
          </a:p>
        </p:txBody>
      </p:sp>
      <p:sp>
        <p:nvSpPr>
          <p:cNvPr id="6" name="Rounded Rectangle 5"/>
          <p:cNvSpPr/>
          <p:nvPr/>
        </p:nvSpPr>
        <p:spPr>
          <a:xfrm>
            <a:off x="731520" y="1280160"/>
            <a:ext cx="5212080" cy="5166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846320" cy="320040"/>
          </a:xfrm>
          <a:prstGeom prst="rect">
            <a:avLst/>
          </a:prstGeom>
          <a:noFill/>
        </p:spPr>
        <p:txBody>
          <a:bodyPr wrap="none">
            <a:spAutoFit/>
          </a:bodyPr>
          <a:lstStyle/>
          <a:p>
            <a:pPr>
              <a:defRPr sz="1100" b="1">
                <a:solidFill>
                  <a:srgbClr val="FF5A1F"/>
                </a:solidFill>
              </a:defRPr>
            </a:pPr>
            <a:r>
              <a:t>ARQUITECTURA DE DECISIÓN CONCEPTUAL EN DOS CAPAS</a:t>
            </a:r>
          </a:p>
        </p:txBody>
      </p:sp>
      <p:sp>
        <p:nvSpPr>
          <p:cNvPr id="8" name="TextBox 7"/>
          <p:cNvSpPr txBox="1"/>
          <p:nvPr/>
        </p:nvSpPr>
        <p:spPr>
          <a:xfrm>
            <a:off x="914400" y="1828800"/>
            <a:ext cx="4846320" cy="4389120"/>
          </a:xfrm>
          <a:prstGeom prst="rect">
            <a:avLst/>
          </a:prstGeom>
          <a:noFill/>
        </p:spPr>
        <p:txBody>
          <a:bodyPr wrap="square">
            <a:spAutoFit/>
          </a:bodyPr>
          <a:lstStyle/>
          <a:p>
            <a:pPr>
              <a:defRPr b="1" sz="1000">
                <a:solidFill>
                  <a:srgbClr val="0EA5E9"/>
                </a:solidFill>
              </a:defRPr>
            </a:pPr>
            <a:r>
              <a:t>1. Capa 1: Sensor Predictivo de Seguridad (¿Cuándo actuar?)</a:t>
            </a:r>
          </a:p>
          <a:p>
            <a:pPr>
              <a:spcAft>
                <a:spcPts val="700"/>
              </a:spcAft>
              <a:defRPr sz="919">
                <a:solidFill>
                  <a:srgbClr val="64748B"/>
                </a:solidFill>
              </a:defRPr>
            </a:pPr>
            <a:r>
              <a:t>Monitorea continuamente la cuenta y proyecta el balance al plazo exacto de acreditación bancaria (hoy para riel local SPEI, mañana para rieles SWIFT/ACH). Dispara una alerta preventiva con confianza del 99% ANTES de que el saldo perfore el umbral de clientes.</a:t>
            </a:r>
          </a:p>
          <a:p>
            <a:pPr>
              <a:defRPr b="1" sz="1000">
                <a:solidFill>
                  <a:srgbClr val="FF5A1F"/>
                </a:solidFill>
              </a:defRPr>
            </a:pPr>
            <a:r>
              <a:t>2. Capa 2: Amortiguador de Fondeo Quincenal (¿Cuánto transferir?)</a:t>
            </a:r>
          </a:p>
          <a:p>
            <a:pPr>
              <a:spcAft>
                <a:spcPts val="700"/>
              </a:spcAft>
              <a:defRPr sz="919">
                <a:solidFill>
                  <a:srgbClr val="64748B"/>
                </a:solidFill>
              </a:defRPr>
            </a:pPr>
            <a:r>
              <a:t>Cuando el sensor detecta necesidad, no transfiere montos mínimos diarios. Inyecta un colchón estratégico calculado para cubrir 14 días de operación y absorber la quincena corporativa, eliminando el 96.9% de las órdenes innecesarias.</a:t>
            </a:r>
          </a:p>
          <a:p>
            <a:pPr>
              <a:defRPr b="1" sz="1000">
                <a:solidFill>
                  <a:srgbClr val="EF4444"/>
                </a:solidFill>
              </a:defRPr>
            </a:pPr>
            <a:r>
              <a:t>3. Restricción Dura de Solvencia del Donante (¿Desde dónde transferir?)</a:t>
            </a:r>
          </a:p>
          <a:p>
            <a:pPr>
              <a:spcAft>
                <a:spcPts val="700"/>
              </a:spcAft>
              <a:defRPr sz="919">
                <a:solidFill>
                  <a:srgbClr val="0F172A"/>
                </a:solidFill>
              </a:defRPr>
            </a:pPr>
            <a:r>
              <a:t>Regla inviolable: Protege el piso de capital de la cuenta matriz en Bancolombia ($1,000M COP). Solo transfiere excedentes genuinos. Si fondear a una filial compromete la matriz, bloquea el envío para evitar la descapitalización de Cobre.</a:t>
            </a:r>
          </a:p>
          <a:p>
            <a:pPr>
              <a:defRPr b="1" sz="1000">
                <a:solidFill>
                  <a:srgbClr val="10B981"/>
                </a:solidFill>
              </a:defRPr>
            </a:pPr>
            <a:r>
              <a:t>4. Cascada Dinámica por Latencia y Divisa</a:t>
            </a:r>
          </a:p>
          <a:p>
            <a:pPr>
              <a:defRPr sz="919">
                <a:solidFill>
                  <a:srgbClr val="64748B"/>
                </a:solidFill>
              </a:defRPr>
            </a:pPr>
            <a:r>
              <a:t>Prioriza rieles inmediatos (SPEI) si la urgencia es intradía, y compensación interbancaria si es anticipada. Opera con aislamiento estricto de divisa para blindar a tesorería contra pérdidas por spread cambiario.</a:t>
            </a:r>
          </a:p>
        </p:txBody>
      </p:sp>
      <p:pic>
        <p:nvPicPr>
          <p:cNvPr id="9" name="Picture 8" descr="chart_feature_importance.png"/>
          <p:cNvPicPr>
            <a:picLocks noChangeAspect="1"/>
          </p:cNvPicPr>
          <p:nvPr/>
        </p:nvPicPr>
        <p:blipFill>
          <a:blip r:embed="rId2"/>
          <a:stretch>
            <a:fillRect/>
          </a:stretch>
        </p:blipFill>
        <p:spPr>
          <a:xfrm>
            <a:off x="6172200" y="1280160"/>
            <a:ext cx="5303520" cy="5166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5 • EMPIRICAL VALIDATION &amp; OUT-OF-SAMPLE TRAJECTORIES</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Validación Empírica: Trayectorias de Saldo Fuera de Muestra (70 Días)</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06 / 11</a:t>
            </a:r>
          </a:p>
        </p:txBody>
      </p:sp>
      <p:pic>
        <p:nvPicPr>
          <p:cNvPr id="6" name="Picture 5" descr="chart_backtest_trajectories.png"/>
          <p:cNvPicPr>
            <a:picLocks noChangeAspect="1"/>
          </p:cNvPicPr>
          <p:nvPr/>
        </p:nvPicPr>
        <p:blipFill>
          <a:blip r:embed="rId2"/>
          <a:stretch>
            <a:fillRect/>
          </a:stretch>
        </p:blipFill>
        <p:spPr>
          <a:xfrm>
            <a:off x="731520" y="1280160"/>
            <a:ext cx="6217920" cy="5166360"/>
          </a:xfrm>
          <a:prstGeom prst="rect">
            <a:avLst/>
          </a:prstGeom>
        </p:spPr>
      </p:pic>
      <p:sp>
        <p:nvSpPr>
          <p:cNvPr id="7" name="Rounded Rectangle 6"/>
          <p:cNvSpPr/>
          <p:nvPr/>
        </p:nvSpPr>
        <p:spPr>
          <a:xfrm>
            <a:off x="7132320" y="1280160"/>
            <a:ext cx="4327855" cy="5166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417320"/>
            <a:ext cx="3959352" cy="320040"/>
          </a:xfrm>
          <a:prstGeom prst="rect">
            <a:avLst/>
          </a:prstGeom>
          <a:noFill/>
        </p:spPr>
        <p:txBody>
          <a:bodyPr wrap="none">
            <a:spAutoFit/>
          </a:bodyPr>
          <a:lstStyle/>
          <a:p>
            <a:pPr>
              <a:defRPr sz="1100" b="1">
                <a:solidFill>
                  <a:srgbClr val="FF5A1F"/>
                </a:solidFill>
              </a:defRPr>
            </a:pPr>
            <a:r>
              <a:t>DIAGNÓSTICO DE COMPORTAMIENTO POR GEOGRAFÍA</a:t>
            </a:r>
          </a:p>
        </p:txBody>
      </p:sp>
      <p:sp>
        <p:nvSpPr>
          <p:cNvPr id="9" name="TextBox 8"/>
          <p:cNvSpPr txBox="1"/>
          <p:nvPr/>
        </p:nvSpPr>
        <p:spPr>
          <a:xfrm>
            <a:off x="7315200" y="1828800"/>
            <a:ext cx="3959352" cy="4389120"/>
          </a:xfrm>
          <a:prstGeom prst="rect">
            <a:avLst/>
          </a:prstGeom>
          <a:noFill/>
        </p:spPr>
        <p:txBody>
          <a:bodyPr wrap="square">
            <a:spAutoFit/>
          </a:bodyPr>
          <a:lstStyle/>
          <a:p>
            <a:pPr>
              <a:defRPr b="1" sz="1000">
                <a:solidFill>
                  <a:srgbClr val="0EA5E9"/>
                </a:solidFill>
              </a:defRPr>
            </a:pPr>
            <a:r>
              <a:t>Bancolombia (COP - Donante Matriz):</a:t>
            </a:r>
          </a:p>
          <a:p>
            <a:pPr>
              <a:spcAft>
                <a:spcPts val="800"/>
              </a:spcAft>
              <a:defRPr sz="919">
                <a:solidFill>
                  <a:srgbClr val="64748B"/>
                </a:solidFill>
              </a:defRPr>
            </a:pPr>
            <a:r>
              <a:t>• Saldo Mínimo Preservado: $1,942.0M COP (+94.2% sobre umbral).</a:t>
            </a:r>
            <a:br/>
            <a:r>
              <a:t>• Preservación Patrimonial: La política propuesta protegió la cuenta matriz intacta, mientras que el squad anterior canibalizó la nodriza drenándola a $1,695M COP.</a:t>
            </a:r>
          </a:p>
          <a:p>
            <a:pPr>
              <a:defRPr b="1" sz="1000">
                <a:solidFill>
                  <a:srgbClr val="FF5A1F"/>
                </a:solidFill>
              </a:defRPr>
            </a:pPr>
            <a:r>
              <a:t>Chase Bank (USD - Liquidación Internacional):</a:t>
            </a:r>
          </a:p>
          <a:p>
            <a:pPr>
              <a:spcAft>
                <a:spcPts val="800"/>
              </a:spcAft>
              <a:defRPr sz="919">
                <a:solidFill>
                  <a:srgbClr val="64748B"/>
                </a:solidFill>
              </a:defRPr>
            </a:pPr>
            <a:r>
              <a:t>• Saldo Mínimo Preservado: $104.7k USD (+4.7% sobre umbral).</a:t>
            </a:r>
            <a:br/>
            <a:r>
              <a:t>• Cero Quiebres: Mantuvo solvencia continua. La inacción colapsó a $56.0k USD y el squad perforó el umbral a $99.4k USD.</a:t>
            </a:r>
          </a:p>
          <a:p>
            <a:pPr>
              <a:defRPr b="1" sz="1000">
                <a:solidFill>
                  <a:srgbClr val="10B981"/>
                </a:solidFill>
              </a:defRPr>
            </a:pPr>
            <a:r>
              <a:t>BBVA Bancomer (MXN - Dispersión Local):</a:t>
            </a:r>
          </a:p>
          <a:p>
            <a:pPr>
              <a:spcAft>
                <a:spcPts val="800"/>
              </a:spcAft>
              <a:defRPr sz="919">
                <a:solidFill>
                  <a:srgbClr val="64748B"/>
                </a:solidFill>
              </a:defRPr>
            </a:pPr>
            <a:r>
              <a:t>• Saldo Mínimo Preservado: $52.8M MXN (+32.0% sobre umbral).</a:t>
            </a:r>
            <a:br/>
            <a:r>
              <a:t>• Absorción Quincenal: Soportó los 5 ciclos de nómina sin perforar los $40M MXN. La inacción cayó a $15.4M MXN y el squad a $39.98M MXN.</a:t>
            </a:r>
          </a:p>
          <a:p>
            <a:pPr>
              <a:defRPr b="1" sz="950">
                <a:solidFill>
                  <a:srgbClr val="0F172A"/>
                </a:solidFill>
              </a:defRPr>
            </a:pPr>
            <a:r>
              <a:t>Rigor Fuera de Muestra (Zero Lookahead Bias):</a:t>
            </a:r>
          </a:p>
          <a:p>
            <a:pPr>
              <a:defRPr sz="900">
                <a:solidFill>
                  <a:srgbClr val="64748B"/>
                </a:solidFill>
              </a:defRPr>
            </a:pPr>
            <a:r>
              <a:t>Evaluación estricta día por día en 70 días continuos con orden temporal causal, sin acceso a información futura.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5 • COMPARATIVE SCORECARD &amp; POLICY BENCHMARK</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Scorecard Financiero Comparativo: Inacción vs. Squad vs. Modelo Propuesto</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07 / 11</a:t>
            </a:r>
          </a:p>
        </p:txBody>
      </p:sp>
      <p:graphicFrame>
        <p:nvGraphicFramePr>
          <p:cNvPr id="6" name="Table 5"/>
          <p:cNvGraphicFramePr>
            <a:graphicFrameLocks noGrp="1"/>
          </p:cNvGraphicFramePr>
          <p:nvPr/>
        </p:nvGraphicFramePr>
        <p:xfrm>
          <a:off x="731520" y="1234440"/>
          <a:ext cx="10728655" cy="4297680"/>
        </p:xfrm>
        <a:graphic>
          <a:graphicData uri="http://schemas.openxmlformats.org/drawingml/2006/table">
            <a:tbl>
              <a:tblPr firstRow="1" bandRow="1">
                <a:tableStyleId>{5C22544A-7EE6-4342-B048-85BDC9FD1C3A}</a:tableStyleId>
              </a:tblPr>
              <a:tblGrid>
                <a:gridCol w="2194560"/>
                <a:gridCol w="1554480"/>
                <a:gridCol w="1828800"/>
                <a:gridCol w="2194560"/>
                <a:gridCol w="2956255"/>
              </a:tblGrid>
              <a:tr h="477520">
                <a:tc>
                  <a:txBody>
                    <a:bodyPr/>
                    <a:lstStyle/>
                    <a:p>
                      <a:pPr algn="ctr">
                        <a:defRPr sz="900" b="1">
                          <a:solidFill>
                            <a:srgbClr val="FFFFFF"/>
                          </a:solidFill>
                        </a:defRPr>
                      </a:pPr>
                      <a:r>
                        <a:t>DIMENSIÓN FINANCIERA Y OPERATIVA</a:t>
                      </a:r>
                    </a:p>
                  </a:txBody>
                  <a:tcPr>
                    <a:solidFill>
                      <a:srgbClr val="0F172A"/>
                    </a:solidFill>
                  </a:tcPr>
                </a:tc>
                <a:tc>
                  <a:txBody>
                    <a:bodyPr/>
                    <a:lstStyle/>
                    <a:p>
                      <a:pPr algn="ctr">
                        <a:defRPr sz="900" b="1">
                          <a:solidFill>
                            <a:srgbClr val="FFFFFF"/>
                          </a:solidFill>
                        </a:defRPr>
                      </a:pPr>
                      <a:r>
                        <a:t>1. INACCIÓN</a:t>
                      </a:r>
                      <a:br/>
                      <a:r>
                        <a:t>(Sin Fondeo)</a:t>
                      </a:r>
                    </a:p>
                  </a:txBody>
                  <a:tcPr>
                    <a:solidFill>
                      <a:srgbClr val="0F172A"/>
                    </a:solidFill>
                  </a:tcPr>
                </a:tc>
                <a:tc>
                  <a:txBody>
                    <a:bodyPr/>
                    <a:lstStyle/>
                    <a:p>
                      <a:pPr algn="ctr">
                        <a:defRPr sz="900" b="1">
                          <a:solidFill>
                            <a:srgbClr val="FFFFFF"/>
                          </a:solidFill>
                        </a:defRPr>
                      </a:pPr>
                      <a:r>
                        <a:t>2. SQUAD ANTERIOR</a:t>
                      </a:r>
                      <a:br/>
                      <a:r>
                        <a:t>(Heurística Reactiva)</a:t>
                      </a:r>
                    </a:p>
                  </a:txBody>
                  <a:tcPr>
                    <a:solidFill>
                      <a:srgbClr val="0F172A"/>
                    </a:solidFill>
                  </a:tcPr>
                </a:tc>
                <a:tc>
                  <a:txBody>
                    <a:bodyPr/>
                    <a:lstStyle/>
                    <a:p>
                      <a:pPr algn="ctr">
                        <a:defRPr sz="900" b="1">
                          <a:solidFill>
                            <a:srgbClr val="FFFFFF"/>
                          </a:solidFill>
                        </a:defRPr>
                      </a:pPr>
                      <a:r>
                        <a:t>3. MODELO PROPUESTO</a:t>
                      </a:r>
                      <a:br/>
                      <a:r>
                        <a:t>(Lead DS • Dos Capas)</a:t>
                      </a:r>
                    </a:p>
                  </a:txBody>
                  <a:tcPr>
                    <a:solidFill>
                      <a:srgbClr val="FF5A1F"/>
                    </a:solidFill>
                  </a:tcPr>
                </a:tc>
                <a:tc>
                  <a:txBody>
                    <a:bodyPr/>
                    <a:lstStyle/>
                    <a:p>
                      <a:pPr algn="ctr">
                        <a:defRPr sz="900" b="1">
                          <a:solidFill>
                            <a:srgbClr val="FFFFFF"/>
                          </a:solidFill>
                        </a:defRPr>
                      </a:pPr>
                      <a:r>
                        <a:t>IMPACTO FINANCIERO Y CONCLUSIÓN TÉCNICA</a:t>
                      </a:r>
                    </a:p>
                  </a:txBody>
                  <a:tcPr>
                    <a:solidFill>
                      <a:srgbClr val="0F172A"/>
                    </a:solidFill>
                  </a:tcPr>
                </a:tc>
              </a:tr>
              <a:tr h="477520">
                <a:tc>
                  <a:txBody>
                    <a:bodyPr/>
                    <a:lstStyle/>
                    <a:p>
                      <a:pPr>
                        <a:defRPr sz="850" b="1">
                          <a:solidFill>
                            <a:srgbClr val="0F172A"/>
                          </a:solidFill>
                        </a:defRPr>
                      </a:pPr>
                      <a:r>
                        <a:t>Días en Déficit (Quiebres)</a:t>
                      </a:r>
                    </a:p>
                  </a:txBody>
                  <a:tcPr>
                    <a:solidFill>
                      <a:srgbClr val="F8FAFC"/>
                    </a:solidFill>
                  </a:tcPr>
                </a:tc>
                <a:tc>
                  <a:txBody>
                    <a:bodyPr/>
                    <a:lstStyle/>
                    <a:p>
                      <a:pPr algn="ctr">
                        <a:defRPr sz="850">
                          <a:solidFill>
                            <a:srgbClr val="EF4444"/>
                          </a:solidFill>
                        </a:defRPr>
                      </a:pPr>
                      <a:r>
                        <a:t>109 días acumulados</a:t>
                      </a:r>
                    </a:p>
                  </a:txBody>
                  <a:tcPr>
                    <a:solidFill>
                      <a:srgbClr val="F8FAFC"/>
                    </a:solidFill>
                  </a:tcPr>
                </a:tc>
                <a:tc>
                  <a:txBody>
                    <a:bodyPr/>
                    <a:lstStyle/>
                    <a:p>
                      <a:pPr algn="ctr">
                        <a:defRPr sz="850" b="0">
                          <a:solidFill>
                            <a:srgbClr val="EF4444"/>
                          </a:solidFill>
                        </a:defRPr>
                      </a:pPr>
                      <a:r>
                        <a:t>2 días en test (19 hist.)</a:t>
                      </a:r>
                    </a:p>
                  </a:txBody>
                  <a:tcPr>
                    <a:solidFill>
                      <a:srgbClr val="F8FAFC"/>
                    </a:solidFill>
                  </a:tcPr>
                </a:tc>
                <a:tc>
                  <a:txBody>
                    <a:bodyPr/>
                    <a:lstStyle/>
                    <a:p>
                      <a:pPr algn="ctr">
                        <a:defRPr sz="850" b="1">
                          <a:solidFill>
                            <a:srgbClr val="065F46"/>
                          </a:solidFill>
                        </a:defRPr>
                      </a:pPr>
                      <a:r>
                        <a:t>0 días (100.0% SLA)</a:t>
                      </a:r>
                    </a:p>
                  </a:txBody>
                  <a:tcPr>
                    <a:solidFill>
                      <a:srgbClr val="ECFDF5"/>
                    </a:solidFill>
                  </a:tcPr>
                </a:tc>
                <a:tc>
                  <a:txBody>
                    <a:bodyPr/>
                    <a:lstStyle/>
                    <a:p>
                      <a:pPr>
                        <a:defRPr sz="819">
                          <a:solidFill>
                            <a:srgbClr val="0F172A"/>
                          </a:solidFill>
                        </a:defRPr>
                      </a:pPr>
                      <a:r>
                        <a:t>Cero quiebres operativos. Se eliminó el riesgo de bloqueo en dispersión de nóminas masivas.</a:t>
                      </a:r>
                    </a:p>
                  </a:txBody>
                  <a:tcPr>
                    <a:solidFill>
                      <a:srgbClr val="F8FAFC"/>
                    </a:solidFill>
                  </a:tcPr>
                </a:tc>
              </a:tr>
              <a:tr h="477520">
                <a:tc>
                  <a:txBody>
                    <a:bodyPr/>
                    <a:lstStyle/>
                    <a:p>
                      <a:pPr>
                        <a:defRPr sz="850" b="1">
                          <a:solidFill>
                            <a:srgbClr val="0F172A"/>
                          </a:solidFill>
                        </a:defRPr>
                      </a:pPr>
                      <a:r>
                        <a:t>Transferencias Bancarias</a:t>
                      </a:r>
                    </a:p>
                  </a:txBody>
                  <a:tcPr>
                    <a:solidFill>
                      <a:srgbClr val="FFFFFF"/>
                    </a:solidFill>
                  </a:tcPr>
                </a:tc>
                <a:tc>
                  <a:txBody>
                    <a:bodyPr/>
                    <a:lstStyle/>
                    <a:p>
                      <a:pPr algn="ctr">
                        <a:defRPr sz="850">
                          <a:solidFill>
                            <a:srgbClr val="64748B"/>
                          </a:solidFill>
                        </a:defRPr>
                      </a:pPr>
                      <a:r>
                        <a:t>0 órdenes</a:t>
                      </a:r>
                    </a:p>
                  </a:txBody>
                  <a:tcPr>
                    <a:solidFill>
                      <a:srgbClr val="FFFFFF"/>
                    </a:solidFill>
                  </a:tcPr>
                </a:tc>
                <a:tc>
                  <a:txBody>
                    <a:bodyPr/>
                    <a:lstStyle/>
                    <a:p>
                      <a:pPr algn="ctr">
                        <a:defRPr sz="850" b="0">
                          <a:solidFill>
                            <a:srgbClr val="EF4444"/>
                          </a:solidFill>
                        </a:defRPr>
                      </a:pPr>
                      <a:r>
                        <a:t>97 órdenes (1.4 / día)</a:t>
                      </a:r>
                    </a:p>
                  </a:txBody>
                  <a:tcPr>
                    <a:solidFill>
                      <a:srgbClr val="FFFFFF"/>
                    </a:solidFill>
                  </a:tcPr>
                </a:tc>
                <a:tc>
                  <a:txBody>
                    <a:bodyPr/>
                    <a:lstStyle/>
                    <a:p>
                      <a:pPr algn="ctr">
                        <a:defRPr sz="850" b="1">
                          <a:solidFill>
                            <a:srgbClr val="065F46"/>
                          </a:solidFill>
                        </a:defRPr>
                      </a:pPr>
                      <a:r>
                        <a:t>3 órdenes (-96.9%)</a:t>
                      </a:r>
                    </a:p>
                  </a:txBody>
                  <a:tcPr>
                    <a:solidFill>
                      <a:srgbClr val="D1FAE5"/>
                    </a:solidFill>
                  </a:tcPr>
                </a:tc>
                <a:tc>
                  <a:txBody>
                    <a:bodyPr/>
                    <a:lstStyle/>
                    <a:p>
                      <a:pPr>
                        <a:defRPr sz="819">
                          <a:solidFill>
                            <a:srgbClr val="0F172A"/>
                          </a:solidFill>
                        </a:defRPr>
                      </a:pPr>
                      <a:r>
                        <a:t>Reducción del 96.9% en fricción operativa: de 1.4 órdenes diarias a 1 fondeo cada 23 días.</a:t>
                      </a:r>
                    </a:p>
                  </a:txBody>
                  <a:tcPr>
                    <a:solidFill>
                      <a:srgbClr val="FFFFFF"/>
                    </a:solidFill>
                  </a:tcPr>
                </a:tc>
              </a:tr>
              <a:tr h="477520">
                <a:tc>
                  <a:txBody>
                    <a:bodyPr/>
                    <a:lstStyle/>
                    <a:p>
                      <a:pPr>
                        <a:defRPr sz="850" b="1">
                          <a:solidFill>
                            <a:srgbClr val="0F172A"/>
                          </a:solidFill>
                        </a:defRPr>
                      </a:pPr>
                      <a:r>
                        <a:t>Costo en Fees Bancarios</a:t>
                      </a:r>
                    </a:p>
                  </a:txBody>
                  <a:tcPr>
                    <a:solidFill>
                      <a:srgbClr val="F8FAFC"/>
                    </a:solidFill>
                  </a:tcPr>
                </a:tc>
                <a:tc>
                  <a:txBody>
                    <a:bodyPr/>
                    <a:lstStyle/>
                    <a:p>
                      <a:pPr algn="ctr">
                        <a:defRPr sz="850">
                          <a:solidFill>
                            <a:srgbClr val="64748B"/>
                          </a:solidFill>
                        </a:defRPr>
                      </a:pPr>
                      <a:r>
                        <a:t>$0.00</a:t>
                      </a:r>
                    </a:p>
                  </a:txBody>
                  <a:tcPr>
                    <a:solidFill>
                      <a:srgbClr val="F8FAFC"/>
                    </a:solidFill>
                  </a:tcPr>
                </a:tc>
                <a:tc>
                  <a:txBody>
                    <a:bodyPr/>
                    <a:lstStyle/>
                    <a:p>
                      <a:pPr algn="ctr">
                        <a:defRPr sz="850" b="0">
                          <a:solidFill>
                            <a:srgbClr val="EF4444"/>
                          </a:solidFill>
                        </a:defRPr>
                      </a:pPr>
                      <a:r>
                        <a:t>Descontrol de comisiones</a:t>
                      </a:r>
                    </a:p>
                  </a:txBody>
                  <a:tcPr>
                    <a:solidFill>
                      <a:srgbClr val="F8FAFC"/>
                    </a:solidFill>
                  </a:tcPr>
                </a:tc>
                <a:tc>
                  <a:txBody>
                    <a:bodyPr/>
                    <a:lstStyle/>
                    <a:p>
                      <a:pPr algn="ctr">
                        <a:defRPr sz="850" b="1">
                          <a:solidFill>
                            <a:srgbClr val="065F46"/>
                          </a:solidFill>
                        </a:defRPr>
                      </a:pPr>
                      <a:r>
                        <a:t>$50 USD + $20 MXN</a:t>
                      </a:r>
                    </a:p>
                  </a:txBody>
                  <a:tcPr>
                    <a:solidFill>
                      <a:srgbClr val="ECFDF5"/>
                    </a:solidFill>
                  </a:tcPr>
                </a:tc>
                <a:tc>
                  <a:txBody>
                    <a:bodyPr/>
                    <a:lstStyle/>
                    <a:p>
                      <a:pPr>
                        <a:defRPr sz="819">
                          <a:solidFill>
                            <a:srgbClr val="0F172A"/>
                          </a:solidFill>
                        </a:defRPr>
                      </a:pPr>
                      <a:r>
                        <a:t>Solo 2 órdenes internacionales SWIFT ($25 c/u) y 1 orden local SPEI ($20 MXN).</a:t>
                      </a:r>
                    </a:p>
                  </a:txBody>
                  <a:tcPr>
                    <a:solidFill>
                      <a:srgbClr val="F8FAFC"/>
                    </a:solidFill>
                  </a:tcPr>
                </a:tc>
              </a:tr>
              <a:tr h="477520">
                <a:tc>
                  <a:txBody>
                    <a:bodyPr/>
                    <a:lstStyle/>
                    <a:p>
                      <a:pPr>
                        <a:defRPr sz="850" b="1">
                          <a:solidFill>
                            <a:srgbClr val="0F172A"/>
                          </a:solidFill>
                        </a:defRPr>
                      </a:pPr>
                      <a:r>
                        <a:t>Saldo Mín. Matriz (COP)</a:t>
                      </a:r>
                    </a:p>
                  </a:txBody>
                  <a:tcPr>
                    <a:solidFill>
                      <a:srgbClr val="FFFFFF"/>
                    </a:solidFill>
                  </a:tcPr>
                </a:tc>
                <a:tc>
                  <a:txBody>
                    <a:bodyPr/>
                    <a:lstStyle/>
                    <a:p>
                      <a:pPr algn="ctr">
                        <a:defRPr sz="850">
                          <a:solidFill>
                            <a:srgbClr val="64748B"/>
                          </a:solidFill>
                        </a:defRPr>
                      </a:pPr>
                      <a:r>
                        <a:t>$1,942.0M COP</a:t>
                      </a:r>
                    </a:p>
                  </a:txBody>
                  <a:tcPr>
                    <a:solidFill>
                      <a:srgbClr val="FFFFFF"/>
                    </a:solidFill>
                  </a:tcPr>
                </a:tc>
                <a:tc>
                  <a:txBody>
                    <a:bodyPr/>
                    <a:lstStyle/>
                    <a:p>
                      <a:pPr algn="ctr">
                        <a:defRPr sz="850" b="1">
                          <a:solidFill>
                            <a:srgbClr val="EF4444"/>
                          </a:solidFill>
                        </a:defRPr>
                      </a:pPr>
                      <a:r>
                        <a:t>Canibalizó matriz ($1,695M)</a:t>
                      </a:r>
                    </a:p>
                  </a:txBody>
                  <a:tcPr>
                    <a:solidFill>
                      <a:srgbClr val="FFFFFF"/>
                    </a:solidFill>
                  </a:tcPr>
                </a:tc>
                <a:tc>
                  <a:txBody>
                    <a:bodyPr/>
                    <a:lstStyle/>
                    <a:p>
                      <a:pPr algn="ctr">
                        <a:defRPr sz="850" b="1">
                          <a:solidFill>
                            <a:srgbClr val="065F46"/>
                          </a:solidFill>
                        </a:defRPr>
                      </a:pPr>
                      <a:r>
                        <a:t>$1,942.0M COP (+94.2%)</a:t>
                      </a:r>
                    </a:p>
                  </a:txBody>
                  <a:tcPr>
                    <a:solidFill>
                      <a:srgbClr val="D1FAE5"/>
                    </a:solidFill>
                  </a:tcPr>
                </a:tc>
                <a:tc>
                  <a:txBody>
                    <a:bodyPr/>
                    <a:lstStyle/>
                    <a:p>
                      <a:pPr>
                        <a:defRPr sz="819">
                          <a:solidFill>
                            <a:srgbClr val="0F172A"/>
                          </a:solidFill>
                        </a:defRPr>
                      </a:pPr>
                      <a:r>
                        <a:t>La cuenta donante jamás perforó el piso ($1,000M COP). Margen de seguridad intacto (+94.2%).</a:t>
                      </a:r>
                    </a:p>
                  </a:txBody>
                  <a:tcPr>
                    <a:solidFill>
                      <a:srgbClr val="FFFFFF"/>
                    </a:solidFill>
                  </a:tcPr>
                </a:tc>
              </a:tr>
              <a:tr h="477520">
                <a:tc>
                  <a:txBody>
                    <a:bodyPr/>
                    <a:lstStyle/>
                    <a:p>
                      <a:pPr>
                        <a:defRPr sz="850" b="1">
                          <a:solidFill>
                            <a:srgbClr val="0F172A"/>
                          </a:solidFill>
                        </a:defRPr>
                      </a:pPr>
                      <a:r>
                        <a:t>Saldo Mín. en USD (Chase)</a:t>
                      </a:r>
                    </a:p>
                  </a:txBody>
                  <a:tcPr>
                    <a:solidFill>
                      <a:srgbClr val="F8FAFC"/>
                    </a:solidFill>
                  </a:tcPr>
                </a:tc>
                <a:tc>
                  <a:txBody>
                    <a:bodyPr/>
                    <a:lstStyle/>
                    <a:p>
                      <a:pPr algn="ctr">
                        <a:defRPr sz="850">
                          <a:solidFill>
                            <a:srgbClr val="EF4444"/>
                          </a:solidFill>
                        </a:defRPr>
                      </a:pPr>
                      <a:r>
                        <a:t>$56.0k USD (Quiebre)</a:t>
                      </a:r>
                    </a:p>
                  </a:txBody>
                  <a:tcPr>
                    <a:solidFill>
                      <a:srgbClr val="F8FAFC"/>
                    </a:solidFill>
                  </a:tcPr>
                </a:tc>
                <a:tc>
                  <a:txBody>
                    <a:bodyPr/>
                    <a:lstStyle/>
                    <a:p>
                      <a:pPr algn="ctr">
                        <a:defRPr sz="850" b="1">
                          <a:solidFill>
                            <a:srgbClr val="EF4444"/>
                          </a:solidFill>
                        </a:defRPr>
                      </a:pPr>
                      <a:r>
                        <a:t>$99.4k USD (Quiebre)</a:t>
                      </a:r>
                    </a:p>
                  </a:txBody>
                  <a:tcPr>
                    <a:solidFill>
                      <a:srgbClr val="F8FAFC"/>
                    </a:solidFill>
                  </a:tcPr>
                </a:tc>
                <a:tc>
                  <a:txBody>
                    <a:bodyPr/>
                    <a:lstStyle/>
                    <a:p>
                      <a:pPr algn="ctr">
                        <a:defRPr sz="850" b="1">
                          <a:solidFill>
                            <a:srgbClr val="065F46"/>
                          </a:solidFill>
                        </a:defRPr>
                      </a:pPr>
                      <a:r>
                        <a:t>$104.7k USD (+4.7%)</a:t>
                      </a:r>
                    </a:p>
                  </a:txBody>
                  <a:tcPr>
                    <a:solidFill>
                      <a:srgbClr val="ECFDF5"/>
                    </a:solidFill>
                  </a:tcPr>
                </a:tc>
                <a:tc>
                  <a:txBody>
                    <a:bodyPr/>
                    <a:lstStyle/>
                    <a:p>
                      <a:pPr>
                        <a:defRPr sz="819">
                          <a:solidFill>
                            <a:srgbClr val="0F172A"/>
                          </a:solidFill>
                        </a:defRPr>
                      </a:pPr>
                      <a:r>
                        <a:t>Cumplimiento estricto del umbral ($100k USD) durante todo el trimestre evaluado.</a:t>
                      </a:r>
                    </a:p>
                  </a:txBody>
                  <a:tcPr>
                    <a:solidFill>
                      <a:srgbClr val="F8FAFC"/>
                    </a:solidFill>
                  </a:tcPr>
                </a:tc>
              </a:tr>
              <a:tr h="477520">
                <a:tc>
                  <a:txBody>
                    <a:bodyPr/>
                    <a:lstStyle/>
                    <a:p>
                      <a:pPr>
                        <a:defRPr sz="850" b="1">
                          <a:solidFill>
                            <a:srgbClr val="0F172A"/>
                          </a:solidFill>
                        </a:defRPr>
                      </a:pPr>
                      <a:r>
                        <a:t>Saldo Mín. en MXN (BBVA)</a:t>
                      </a:r>
                    </a:p>
                  </a:txBody>
                  <a:tcPr>
                    <a:solidFill>
                      <a:srgbClr val="FFFFFF"/>
                    </a:solidFill>
                  </a:tcPr>
                </a:tc>
                <a:tc>
                  <a:txBody>
                    <a:bodyPr/>
                    <a:lstStyle/>
                    <a:p>
                      <a:pPr algn="ctr">
                        <a:defRPr sz="850">
                          <a:solidFill>
                            <a:srgbClr val="EF4444"/>
                          </a:solidFill>
                        </a:defRPr>
                      </a:pPr>
                      <a:r>
                        <a:t>$15.4M MXN (Quiebre)</a:t>
                      </a:r>
                    </a:p>
                  </a:txBody>
                  <a:tcPr>
                    <a:solidFill>
                      <a:srgbClr val="FFFFFF"/>
                    </a:solidFill>
                  </a:tcPr>
                </a:tc>
                <a:tc>
                  <a:txBody>
                    <a:bodyPr/>
                    <a:lstStyle/>
                    <a:p>
                      <a:pPr algn="ctr">
                        <a:defRPr sz="850" b="1">
                          <a:solidFill>
                            <a:srgbClr val="EF4444"/>
                          </a:solidFill>
                        </a:defRPr>
                      </a:pPr>
                      <a:r>
                        <a:t>$39.98M MXN (Quiebre)</a:t>
                      </a:r>
                    </a:p>
                  </a:txBody>
                  <a:tcPr>
                    <a:solidFill>
                      <a:srgbClr val="FFFFFF"/>
                    </a:solidFill>
                  </a:tcPr>
                </a:tc>
                <a:tc>
                  <a:txBody>
                    <a:bodyPr/>
                    <a:lstStyle/>
                    <a:p>
                      <a:pPr algn="ctr">
                        <a:defRPr sz="850" b="1">
                          <a:solidFill>
                            <a:srgbClr val="065F46"/>
                          </a:solidFill>
                        </a:defRPr>
                      </a:pPr>
                      <a:r>
                        <a:t>$52.8M MXN (+32.0%)</a:t>
                      </a:r>
                    </a:p>
                  </a:txBody>
                  <a:tcPr>
                    <a:solidFill>
                      <a:srgbClr val="D1FAE5"/>
                    </a:solidFill>
                  </a:tcPr>
                </a:tc>
                <a:tc>
                  <a:txBody>
                    <a:bodyPr/>
                    <a:lstStyle/>
                    <a:p>
                      <a:pPr>
                        <a:defRPr sz="819">
                          <a:solidFill>
                            <a:srgbClr val="0F172A"/>
                          </a:solidFill>
                        </a:defRPr>
                      </a:pPr>
                      <a:r>
                        <a:t>El colchón amortiguó 5 ciclos de nómina sin perforar el umbral contractual ($40M MXN).</a:t>
                      </a:r>
                    </a:p>
                  </a:txBody>
                  <a:tcPr>
                    <a:solidFill>
                      <a:srgbClr val="FFFFFF"/>
                    </a:solidFill>
                  </a:tcPr>
                </a:tc>
              </a:tr>
              <a:tr h="477520">
                <a:tc>
                  <a:txBody>
                    <a:bodyPr/>
                    <a:lstStyle/>
                    <a:p>
                      <a:pPr>
                        <a:defRPr sz="850" b="1">
                          <a:solidFill>
                            <a:srgbClr val="0F172A"/>
                          </a:solidFill>
                        </a:defRPr>
                      </a:pPr>
                      <a:r>
                        <a:t>Preservación del Float (COP)</a:t>
                      </a:r>
                    </a:p>
                  </a:txBody>
                  <a:tcPr>
                    <a:solidFill>
                      <a:srgbClr val="F8FAFC"/>
                    </a:solidFill>
                  </a:tcPr>
                </a:tc>
                <a:tc>
                  <a:txBody>
                    <a:bodyPr/>
                    <a:lstStyle/>
                    <a:p>
                      <a:pPr algn="ctr">
                        <a:defRPr sz="850">
                          <a:solidFill>
                            <a:srgbClr val="64748B"/>
                          </a:solidFill>
                        </a:defRPr>
                      </a:pPr>
                      <a:r>
                        <a:t>$124.5M COP float</a:t>
                      </a:r>
                    </a:p>
                  </a:txBody>
                  <a:tcPr>
                    <a:solidFill>
                      <a:srgbClr val="F8FAFC"/>
                    </a:solidFill>
                  </a:tcPr>
                </a:tc>
                <a:tc>
                  <a:txBody>
                    <a:bodyPr/>
                    <a:lstStyle/>
                    <a:p>
                      <a:pPr algn="ctr">
                        <a:defRPr sz="850" b="0">
                          <a:solidFill>
                            <a:srgbClr val="EF4444"/>
                          </a:solidFill>
                        </a:defRPr>
                      </a:pPr>
                      <a:r>
                        <a:t>$111.5M COP float</a:t>
                      </a:r>
                    </a:p>
                  </a:txBody>
                  <a:tcPr>
                    <a:solidFill>
                      <a:srgbClr val="F8FAFC"/>
                    </a:solidFill>
                  </a:tcPr>
                </a:tc>
                <a:tc>
                  <a:txBody>
                    <a:bodyPr/>
                    <a:lstStyle/>
                    <a:p>
                      <a:pPr algn="ctr">
                        <a:defRPr sz="850" b="1">
                          <a:solidFill>
                            <a:srgbClr val="065F46"/>
                          </a:solidFill>
                        </a:defRPr>
                      </a:pPr>
                      <a:r>
                        <a:t>$124.5M COP (+12.97M COP)</a:t>
                      </a:r>
                    </a:p>
                  </a:txBody>
                  <a:tcPr>
                    <a:solidFill>
                      <a:srgbClr val="ECFDF5"/>
                    </a:solidFill>
                  </a:tcPr>
                </a:tc>
                <a:tc>
                  <a:txBody>
                    <a:bodyPr/>
                    <a:lstStyle/>
                    <a:p>
                      <a:pPr>
                        <a:defRPr sz="819">
                          <a:solidFill>
                            <a:srgbClr val="0F172A"/>
                          </a:solidFill>
                        </a:defRPr>
                      </a:pPr>
                      <a:r>
                        <a:t>Superó al squad en +$12.97M COP en saldo promedio remunerado en la cuenta matriz en Colombia.</a:t>
                      </a:r>
                    </a:p>
                  </a:txBody>
                  <a:tcPr>
                    <a:solidFill>
                      <a:srgbClr val="F8FAFC"/>
                    </a:solidFill>
                  </a:tcPr>
                </a:tc>
              </a:tr>
              <a:tr h="477520">
                <a:tc>
                  <a:txBody>
                    <a:bodyPr/>
                    <a:lstStyle/>
                    <a:p>
                      <a:pPr>
                        <a:defRPr sz="850" b="1">
                          <a:solidFill>
                            <a:srgbClr val="0F172A"/>
                          </a:solidFill>
                        </a:defRPr>
                      </a:pPr>
                      <a:r>
                        <a:t>Descapitalización de Caja</a:t>
                      </a:r>
                    </a:p>
                  </a:txBody>
                  <a:tcPr>
                    <a:solidFill>
                      <a:srgbClr val="FFFFFF"/>
                    </a:solidFill>
                  </a:tcPr>
                </a:tc>
                <a:tc>
                  <a:txBody>
                    <a:bodyPr/>
                    <a:lstStyle/>
                    <a:p>
                      <a:pPr algn="ctr">
                        <a:defRPr sz="850">
                          <a:solidFill>
                            <a:srgbClr val="64748B"/>
                          </a:solidFill>
                        </a:defRPr>
                      </a:pPr>
                      <a:r>
                        <a:t>No aplica</a:t>
                      </a:r>
                    </a:p>
                  </a:txBody>
                  <a:tcPr>
                    <a:solidFill>
                      <a:srgbClr val="FFFFFF"/>
                    </a:solidFill>
                  </a:tcPr>
                </a:tc>
                <a:tc>
                  <a:txBody>
                    <a:bodyPr/>
                    <a:lstStyle/>
                    <a:p>
                      <a:pPr algn="ctr">
                        <a:defRPr sz="850" b="0">
                          <a:solidFill>
                            <a:srgbClr val="EF4444"/>
                          </a:solidFill>
                        </a:defRPr>
                      </a:pPr>
                      <a:r>
                        <a:t>Crítica (vació Bancolombia)</a:t>
                      </a:r>
                    </a:p>
                  </a:txBody>
                  <a:tcPr>
                    <a:solidFill>
                      <a:srgbClr val="FFFFFF"/>
                    </a:solidFill>
                  </a:tcPr>
                </a:tc>
                <a:tc>
                  <a:txBody>
                    <a:bodyPr/>
                    <a:lstStyle/>
                    <a:p>
                      <a:pPr algn="ctr">
                        <a:defRPr sz="850" b="1">
                          <a:solidFill>
                            <a:srgbClr val="065F46"/>
                          </a:solidFill>
                        </a:defRPr>
                      </a:pPr>
                      <a:r>
                        <a:t>0 eventos (Piso intacto)</a:t>
                      </a:r>
                    </a:p>
                  </a:txBody>
                  <a:tcPr>
                    <a:solidFill>
                      <a:srgbClr val="D1FAE5"/>
                    </a:solidFill>
                  </a:tcPr>
                </a:tc>
                <a:tc>
                  <a:txBody>
                    <a:bodyPr/>
                    <a:lstStyle/>
                    <a:p>
                      <a:pPr>
                        <a:defRPr sz="819">
                          <a:solidFill>
                            <a:srgbClr val="0F172A"/>
                          </a:solidFill>
                        </a:defRPr>
                      </a:pPr>
                      <a:r>
                        <a:t>Protección patrimonial absoluta mediante la regla dura de solvencia del donante.</a:t>
                      </a:r>
                    </a:p>
                  </a:txBody>
                  <a:tcPr>
                    <a:solidFill>
                      <a:srgbClr val="FFFFFF"/>
                    </a:solidFill>
                  </a:tcPr>
                </a:tc>
              </a:tr>
            </a:tbl>
          </a:graphicData>
        </a:graphic>
      </p:graphicFrame>
      <p:sp>
        <p:nvSpPr>
          <p:cNvPr id="7" name="Rounded Rectangle 6"/>
          <p:cNvSpPr/>
          <p:nvPr/>
        </p:nvSpPr>
        <p:spPr>
          <a:xfrm>
            <a:off x="731520" y="5623560"/>
            <a:ext cx="10728655" cy="868680"/>
          </a:xfrm>
          <a:prstGeom prst="roundRect">
            <a:avLst/>
          </a:prstGeom>
          <a:solidFill>
            <a:srgbClr val="0F172A"/>
          </a:solidFill>
          <a:ln w="12700">
            <a:solidFill>
              <a:srgbClr val="FF5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87568"/>
            <a:ext cx="10362895" cy="731520"/>
          </a:xfrm>
          <a:prstGeom prst="rect">
            <a:avLst/>
          </a:prstGeom>
          <a:noFill/>
        </p:spPr>
        <p:txBody>
          <a:bodyPr wrap="square">
            <a:spAutoFit/>
          </a:bodyPr>
          <a:lstStyle/>
          <a:p>
            <a:pPr>
              <a:spcAft>
                <a:spcPts val="200"/>
              </a:spcAft>
              <a:defRPr sz="950" b="1">
                <a:solidFill>
                  <a:srgbClr val="FF5A1F"/>
                </a:solidFill>
              </a:defRPr>
            </a:pPr>
            <a:r>
              <a:t>SÍNTESIS EJECUTIVA DE RETORNO FINANCIERO: El Modelo Propuesto resuelve simultáneamente el Trilema de Tesorería:</a:t>
            </a:r>
          </a:p>
          <a:p>
            <a:pPr>
              <a:defRPr sz="900" b="1">
                <a:solidFill>
                  <a:srgbClr val="FFFFFF"/>
                </a:solidFill>
              </a:defRPr>
            </a:pPr>
            <a:r>
              <a:t>1. Cero días en déficit (100% SLA)   |   2. Ahorro de 96.9% en transferencias ($50 USD + $20 MXN en comisiones)   |   3. Maximización del float (+12.97M COP en matriz) blindando la reserva de capital.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5 • FINANCIAL AUDIT &amp; NATIVE P&amp;L</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Auditoría Financiera: P&amp;L por Divisa Nativa y Clarificación del Float</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08 / 11</a:t>
            </a:r>
          </a:p>
        </p:txBody>
      </p:sp>
      <p:sp>
        <p:nvSpPr>
          <p:cNvPr id="6" name="Rounded Rectangle 5"/>
          <p:cNvSpPr/>
          <p:nvPr/>
        </p:nvSpPr>
        <p:spPr>
          <a:xfrm>
            <a:off x="731520" y="1280160"/>
            <a:ext cx="10728655"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332720" cy="274320"/>
          </a:xfrm>
          <a:prstGeom prst="rect">
            <a:avLst/>
          </a:prstGeom>
          <a:noFill/>
        </p:spPr>
        <p:txBody>
          <a:bodyPr wrap="none">
            <a:spAutoFit/>
          </a:bodyPr>
          <a:lstStyle/>
          <a:p>
            <a:pPr>
              <a:defRPr sz="1100" b="1">
                <a:solidFill>
                  <a:srgbClr val="FF5A1F"/>
                </a:solidFill>
              </a:defRPr>
            </a:pPr>
            <a:r>
              <a:t>DESGLOSE DE SALDOS MÍNIMOS Y COSTOS OPERACIONALES POR MONEDA NATIVA</a:t>
            </a:r>
          </a:p>
        </p:txBody>
      </p:sp>
      <p:graphicFrame>
        <p:nvGraphicFramePr>
          <p:cNvPr id="8" name="Table 7"/>
          <p:cNvGraphicFramePr>
            <a:graphicFrameLocks noGrp="1"/>
          </p:cNvGraphicFramePr>
          <p:nvPr/>
        </p:nvGraphicFramePr>
        <p:xfrm>
          <a:off x="914400" y="1691640"/>
          <a:ext cx="10332720" cy="2011680"/>
        </p:xfrm>
        <a:graphic>
          <a:graphicData uri="http://schemas.openxmlformats.org/drawingml/2006/table">
            <a:tbl>
              <a:tblPr firstRow="1" bandRow="1">
                <a:tableStyleId>{5C22544A-7EE6-4342-B048-85BDC9FD1C3A}</a:tableStyleId>
              </a:tblPr>
              <a:tblGrid>
                <a:gridCol w="2011680"/>
                <a:gridCol w="1097280"/>
                <a:gridCol w="1828800"/>
                <a:gridCol w="1828800"/>
                <a:gridCol w="1828800"/>
                <a:gridCol w="1737360"/>
              </a:tblGrid>
              <a:tr h="502920">
                <a:tc>
                  <a:txBody>
                    <a:bodyPr/>
                    <a:lstStyle/>
                    <a:p>
                      <a:pPr algn="ctr">
                        <a:defRPr sz="900" b="1">
                          <a:solidFill>
                            <a:srgbClr val="FFFFFF"/>
                          </a:solidFill>
                        </a:defRPr>
                      </a:pPr>
                      <a:r>
                        <a:t>CUENTA OPERATIVA</a:t>
                      </a:r>
                    </a:p>
                  </a:txBody>
                  <a:tcPr>
                    <a:solidFill>
                      <a:srgbClr val="0F172A"/>
                    </a:solidFill>
                  </a:tcPr>
                </a:tc>
                <a:tc>
                  <a:txBody>
                    <a:bodyPr/>
                    <a:lstStyle/>
                    <a:p>
                      <a:pPr algn="ctr">
                        <a:defRPr sz="900" b="1">
                          <a:solidFill>
                            <a:srgbClr val="FFFFFF"/>
                          </a:solidFill>
                        </a:defRPr>
                      </a:pPr>
                      <a:r>
                        <a:t>DIVISA</a:t>
                      </a:r>
                    </a:p>
                  </a:txBody>
                  <a:tcPr>
                    <a:solidFill>
                      <a:srgbClr val="0F172A"/>
                    </a:solidFill>
                  </a:tcPr>
                </a:tc>
                <a:tc>
                  <a:txBody>
                    <a:bodyPr/>
                    <a:lstStyle/>
                    <a:p>
                      <a:pPr algn="ctr">
                        <a:defRPr sz="900" b="1">
                          <a:solidFill>
                            <a:srgbClr val="FFFFFF"/>
                          </a:solidFill>
                        </a:defRPr>
                      </a:pPr>
                      <a:r>
                        <a:t>SALDO MÍN. REAL</a:t>
                      </a:r>
                    </a:p>
                  </a:txBody>
                  <a:tcPr>
                    <a:solidFill>
                      <a:srgbClr val="0F172A"/>
                    </a:solidFill>
                  </a:tcPr>
                </a:tc>
                <a:tc>
                  <a:txBody>
                    <a:bodyPr/>
                    <a:lstStyle/>
                    <a:p>
                      <a:pPr algn="ctr">
                        <a:defRPr sz="900" b="1">
                          <a:solidFill>
                            <a:srgbClr val="FFFFFF"/>
                          </a:solidFill>
                        </a:defRPr>
                      </a:pPr>
                      <a:r>
                        <a:t>UMBRAL MÍNIMO</a:t>
                      </a:r>
                    </a:p>
                  </a:txBody>
                  <a:tcPr>
                    <a:solidFill>
                      <a:srgbClr val="0F172A"/>
                    </a:solidFill>
                  </a:tcPr>
                </a:tc>
                <a:tc>
                  <a:txBody>
                    <a:bodyPr/>
                    <a:lstStyle/>
                    <a:p>
                      <a:pPr algn="ctr">
                        <a:defRPr sz="900" b="1">
                          <a:solidFill>
                            <a:srgbClr val="FFFFFF"/>
                          </a:solidFill>
                        </a:defRPr>
                      </a:pPr>
                      <a:r>
                        <a:t>MARGEN DE SEGURIDAD</a:t>
                      </a:r>
                    </a:p>
                  </a:txBody>
                  <a:tcPr>
                    <a:solidFill>
                      <a:srgbClr val="0F172A"/>
                    </a:solidFill>
                  </a:tcPr>
                </a:tc>
                <a:tc>
                  <a:txBody>
                    <a:bodyPr/>
                    <a:lstStyle/>
                    <a:p>
                      <a:pPr algn="ctr">
                        <a:defRPr sz="900" b="1">
                          <a:solidFill>
                            <a:srgbClr val="FFFFFF"/>
                          </a:solidFill>
                        </a:defRPr>
                      </a:pPr>
                      <a:r>
                        <a:t>COSTO TOTAL FEES</a:t>
                      </a:r>
                    </a:p>
                  </a:txBody>
                  <a:tcPr>
                    <a:solidFill>
                      <a:srgbClr val="0F172A"/>
                    </a:solidFill>
                  </a:tcPr>
                </a:tc>
              </a:tr>
              <a:tr h="502920">
                <a:tc>
                  <a:txBody>
                    <a:bodyPr/>
                    <a:lstStyle/>
                    <a:p>
                      <a:pPr>
                        <a:defRPr sz="850" b="1">
                          <a:solidFill>
                            <a:srgbClr val="0F172A"/>
                          </a:solidFill>
                        </a:defRPr>
                      </a:pPr>
                      <a:r>
                        <a:t>ACC-001 • Bancolombia</a:t>
                      </a:r>
                    </a:p>
                  </a:txBody>
                  <a:tcPr>
                    <a:solidFill>
                      <a:srgbClr val="F8FAFC"/>
                    </a:solidFill>
                  </a:tcPr>
                </a:tc>
                <a:tc>
                  <a:txBody>
                    <a:bodyPr/>
                    <a:lstStyle/>
                    <a:p>
                      <a:pPr algn="ctr">
                        <a:defRPr sz="850">
                          <a:solidFill>
                            <a:srgbClr val="0F172A"/>
                          </a:solidFill>
                        </a:defRPr>
                      </a:pPr>
                      <a:r>
                        <a:t>COP</a:t>
                      </a:r>
                    </a:p>
                  </a:txBody>
                  <a:tcPr>
                    <a:solidFill>
                      <a:srgbClr val="F8FAFC"/>
                    </a:solidFill>
                  </a:tcPr>
                </a:tc>
                <a:tc>
                  <a:txBody>
                    <a:bodyPr/>
                    <a:lstStyle/>
                    <a:p>
                      <a:pPr algn="ctr">
                        <a:defRPr sz="850">
                          <a:solidFill>
                            <a:srgbClr val="0F172A"/>
                          </a:solidFill>
                        </a:defRPr>
                      </a:pPr>
                      <a:r>
                        <a:t>$1,942,000,000 COP</a:t>
                      </a:r>
                    </a:p>
                  </a:txBody>
                  <a:tcPr>
                    <a:solidFill>
                      <a:srgbClr val="F8FAFC"/>
                    </a:solidFill>
                  </a:tcPr>
                </a:tc>
                <a:tc>
                  <a:txBody>
                    <a:bodyPr/>
                    <a:lstStyle/>
                    <a:p>
                      <a:pPr algn="ctr">
                        <a:defRPr sz="850">
                          <a:solidFill>
                            <a:srgbClr val="0F172A"/>
                          </a:solidFill>
                        </a:defRPr>
                      </a:pPr>
                      <a:r>
                        <a:t>$1,000,000,000 COP</a:t>
                      </a:r>
                    </a:p>
                  </a:txBody>
                  <a:tcPr>
                    <a:solidFill>
                      <a:srgbClr val="F8FAFC"/>
                    </a:solidFill>
                  </a:tcPr>
                </a:tc>
                <a:tc>
                  <a:txBody>
                    <a:bodyPr/>
                    <a:lstStyle/>
                    <a:p>
                      <a:pPr algn="ctr">
                        <a:defRPr sz="850" b="1">
                          <a:solidFill>
                            <a:srgbClr val="10B981"/>
                          </a:solidFill>
                        </a:defRPr>
                      </a:pPr>
                      <a:r>
                        <a:t>+$942,000,000 (+94.2%)</a:t>
                      </a:r>
                    </a:p>
                  </a:txBody>
                  <a:tcPr>
                    <a:solidFill>
                      <a:srgbClr val="F8FAFC"/>
                    </a:solidFill>
                  </a:tcPr>
                </a:tc>
                <a:tc>
                  <a:txBody>
                    <a:bodyPr/>
                    <a:lstStyle/>
                    <a:p>
                      <a:pPr algn="ctr">
                        <a:defRPr sz="850" b="1">
                          <a:solidFill>
                            <a:srgbClr val="FF5A1F"/>
                          </a:solidFill>
                        </a:defRPr>
                      </a:pPr>
                      <a:r>
                        <a:t>$0.00 COP (0 envíos)</a:t>
                      </a:r>
                    </a:p>
                  </a:txBody>
                  <a:tcPr>
                    <a:solidFill>
                      <a:srgbClr val="F8FAFC"/>
                    </a:solidFill>
                  </a:tcPr>
                </a:tc>
              </a:tr>
              <a:tr h="502920">
                <a:tc>
                  <a:txBody>
                    <a:bodyPr/>
                    <a:lstStyle/>
                    <a:p>
                      <a:pPr>
                        <a:defRPr sz="850" b="1">
                          <a:solidFill>
                            <a:srgbClr val="0F172A"/>
                          </a:solidFill>
                        </a:defRPr>
                      </a:pPr>
                      <a:r>
                        <a:t>ACC-002 • Chase Bank</a:t>
                      </a:r>
                    </a:p>
                  </a:txBody>
                  <a:tcPr>
                    <a:solidFill>
                      <a:srgbClr val="FFFFFF"/>
                    </a:solidFill>
                  </a:tcPr>
                </a:tc>
                <a:tc>
                  <a:txBody>
                    <a:bodyPr/>
                    <a:lstStyle/>
                    <a:p>
                      <a:pPr algn="ctr">
                        <a:defRPr sz="850">
                          <a:solidFill>
                            <a:srgbClr val="0F172A"/>
                          </a:solidFill>
                        </a:defRPr>
                      </a:pPr>
                      <a:r>
                        <a:t>USD</a:t>
                      </a:r>
                    </a:p>
                  </a:txBody>
                  <a:tcPr>
                    <a:solidFill>
                      <a:srgbClr val="FFFFFF"/>
                    </a:solidFill>
                  </a:tcPr>
                </a:tc>
                <a:tc>
                  <a:txBody>
                    <a:bodyPr/>
                    <a:lstStyle/>
                    <a:p>
                      <a:pPr algn="ctr">
                        <a:defRPr sz="850">
                          <a:solidFill>
                            <a:srgbClr val="0F172A"/>
                          </a:solidFill>
                        </a:defRPr>
                      </a:pPr>
                      <a:r>
                        <a:t>$104,700 USD</a:t>
                      </a:r>
                    </a:p>
                  </a:txBody>
                  <a:tcPr>
                    <a:solidFill>
                      <a:srgbClr val="FFFFFF"/>
                    </a:solidFill>
                  </a:tcPr>
                </a:tc>
                <a:tc>
                  <a:txBody>
                    <a:bodyPr/>
                    <a:lstStyle/>
                    <a:p>
                      <a:pPr algn="ctr">
                        <a:defRPr sz="850">
                          <a:solidFill>
                            <a:srgbClr val="0F172A"/>
                          </a:solidFill>
                        </a:defRPr>
                      </a:pPr>
                      <a:r>
                        <a:t>$100,000 USD</a:t>
                      </a:r>
                    </a:p>
                  </a:txBody>
                  <a:tcPr>
                    <a:solidFill>
                      <a:srgbClr val="FFFFFF"/>
                    </a:solidFill>
                  </a:tcPr>
                </a:tc>
                <a:tc>
                  <a:txBody>
                    <a:bodyPr/>
                    <a:lstStyle/>
                    <a:p>
                      <a:pPr algn="ctr">
                        <a:defRPr sz="850" b="1">
                          <a:solidFill>
                            <a:srgbClr val="10B981"/>
                          </a:solidFill>
                        </a:defRPr>
                      </a:pPr>
                      <a:r>
                        <a:t>+$4,700 USD (+4.7%)</a:t>
                      </a:r>
                    </a:p>
                  </a:txBody>
                  <a:tcPr>
                    <a:solidFill>
                      <a:srgbClr val="FFFFFF"/>
                    </a:solidFill>
                  </a:tcPr>
                </a:tc>
                <a:tc>
                  <a:txBody>
                    <a:bodyPr/>
                    <a:lstStyle/>
                    <a:p>
                      <a:pPr algn="ctr">
                        <a:defRPr sz="850" b="1">
                          <a:solidFill>
                            <a:srgbClr val="FF5A1F"/>
                          </a:solidFill>
                        </a:defRPr>
                      </a:pPr>
                      <a:r>
                        <a:t>$50.00 USD (2 SWIFT)</a:t>
                      </a:r>
                    </a:p>
                  </a:txBody>
                  <a:tcPr>
                    <a:solidFill>
                      <a:srgbClr val="FFFFFF"/>
                    </a:solidFill>
                  </a:tcPr>
                </a:tc>
              </a:tr>
              <a:tr h="502920">
                <a:tc>
                  <a:txBody>
                    <a:bodyPr/>
                    <a:lstStyle/>
                    <a:p>
                      <a:pPr>
                        <a:defRPr sz="850" b="1">
                          <a:solidFill>
                            <a:srgbClr val="0F172A"/>
                          </a:solidFill>
                        </a:defRPr>
                      </a:pPr>
                      <a:r>
                        <a:t>ACC-004 • BBVA Bancomer</a:t>
                      </a:r>
                    </a:p>
                  </a:txBody>
                  <a:tcPr>
                    <a:solidFill>
                      <a:srgbClr val="F8FAFC"/>
                    </a:solidFill>
                  </a:tcPr>
                </a:tc>
                <a:tc>
                  <a:txBody>
                    <a:bodyPr/>
                    <a:lstStyle/>
                    <a:p>
                      <a:pPr algn="ctr">
                        <a:defRPr sz="850">
                          <a:solidFill>
                            <a:srgbClr val="0F172A"/>
                          </a:solidFill>
                        </a:defRPr>
                      </a:pPr>
                      <a:r>
                        <a:t>MXN</a:t>
                      </a:r>
                    </a:p>
                  </a:txBody>
                  <a:tcPr>
                    <a:solidFill>
                      <a:srgbClr val="F8FAFC"/>
                    </a:solidFill>
                  </a:tcPr>
                </a:tc>
                <a:tc>
                  <a:txBody>
                    <a:bodyPr/>
                    <a:lstStyle/>
                    <a:p>
                      <a:pPr algn="ctr">
                        <a:defRPr sz="850">
                          <a:solidFill>
                            <a:srgbClr val="0F172A"/>
                          </a:solidFill>
                        </a:defRPr>
                      </a:pPr>
                      <a:r>
                        <a:t>$52,800,000 MXN</a:t>
                      </a:r>
                    </a:p>
                  </a:txBody>
                  <a:tcPr>
                    <a:solidFill>
                      <a:srgbClr val="F8FAFC"/>
                    </a:solidFill>
                  </a:tcPr>
                </a:tc>
                <a:tc>
                  <a:txBody>
                    <a:bodyPr/>
                    <a:lstStyle/>
                    <a:p>
                      <a:pPr algn="ctr">
                        <a:defRPr sz="850">
                          <a:solidFill>
                            <a:srgbClr val="0F172A"/>
                          </a:solidFill>
                        </a:defRPr>
                      </a:pPr>
                      <a:r>
                        <a:t>$40,000,000 MXN</a:t>
                      </a:r>
                    </a:p>
                  </a:txBody>
                  <a:tcPr>
                    <a:solidFill>
                      <a:srgbClr val="F8FAFC"/>
                    </a:solidFill>
                  </a:tcPr>
                </a:tc>
                <a:tc>
                  <a:txBody>
                    <a:bodyPr/>
                    <a:lstStyle/>
                    <a:p>
                      <a:pPr algn="ctr">
                        <a:defRPr sz="850" b="1">
                          <a:solidFill>
                            <a:srgbClr val="10B981"/>
                          </a:solidFill>
                        </a:defRPr>
                      </a:pPr>
                      <a:r>
                        <a:t>+$12,800,000 MXN (+32.0%)</a:t>
                      </a:r>
                    </a:p>
                  </a:txBody>
                  <a:tcPr>
                    <a:solidFill>
                      <a:srgbClr val="F8FAFC"/>
                    </a:solidFill>
                  </a:tcPr>
                </a:tc>
                <a:tc>
                  <a:txBody>
                    <a:bodyPr/>
                    <a:lstStyle/>
                    <a:p>
                      <a:pPr algn="ctr">
                        <a:defRPr sz="850" b="1">
                          <a:solidFill>
                            <a:srgbClr val="FF5A1F"/>
                          </a:solidFill>
                        </a:defRPr>
                      </a:pPr>
                      <a:r>
                        <a:t>$20.00 MXN (1 SPEI)</a:t>
                      </a:r>
                    </a:p>
                  </a:txBody>
                  <a:tcPr>
                    <a:solidFill>
                      <a:srgbClr val="F8FAFC"/>
                    </a:solidFill>
                  </a:tcPr>
                </a:tc>
              </a:tr>
            </a:tbl>
          </a:graphicData>
        </a:graphic>
      </p:graphicFrame>
      <p:sp>
        <p:nvSpPr>
          <p:cNvPr id="9" name="Rounded Rectangle 8"/>
          <p:cNvSpPr/>
          <p:nvPr/>
        </p:nvSpPr>
        <p:spPr>
          <a:xfrm>
            <a:off x="731520" y="4069080"/>
            <a:ext cx="10728655" cy="23774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60520"/>
            <a:ext cx="10332720" cy="320040"/>
          </a:xfrm>
          <a:prstGeom prst="rect">
            <a:avLst/>
          </a:prstGeom>
          <a:noFill/>
        </p:spPr>
        <p:txBody>
          <a:bodyPr wrap="none">
            <a:spAutoFit/>
          </a:bodyPr>
          <a:lstStyle/>
          <a:p>
            <a:pPr>
              <a:defRPr sz="1100" b="1">
                <a:solidFill>
                  <a:srgbClr val="0EA5E9"/>
                </a:solidFill>
              </a:defRPr>
            </a:pPr>
            <a:r>
              <a:t>ACLARACIÓN ESTRATÉGICA SOBRE EL "FLOAT" Y SOLVENCIA PATRIMONIAL</a:t>
            </a:r>
          </a:p>
        </p:txBody>
      </p:sp>
      <p:sp>
        <p:nvSpPr>
          <p:cNvPr id="11" name="TextBox 10"/>
          <p:cNvSpPr txBox="1"/>
          <p:nvPr/>
        </p:nvSpPr>
        <p:spPr>
          <a:xfrm>
            <a:off x="914400" y="4526280"/>
            <a:ext cx="10332720" cy="1783080"/>
          </a:xfrm>
          <a:prstGeom prst="rect">
            <a:avLst/>
          </a:prstGeom>
          <a:noFill/>
        </p:spPr>
        <p:txBody>
          <a:bodyPr wrap="square" lIns="0" rIns="0" tIns="0" bIns="0">
            <a:spAutoFit/>
          </a:bodyPr>
          <a:lstStyle/>
          <a:p>
            <a:pPr>
              <a:spcAft>
                <a:spcPts val="400"/>
              </a:spcAft>
              <a:defRPr sz="950">
                <a:solidFill>
                  <a:srgbClr val="FFFFFF"/>
                </a:solidFill>
              </a:defRPr>
            </a:pPr>
            <a:r>
              <a:t>•  Diferencial de Float en Matriz (+12.97M COP): El saldo promedio remunerado en la cuenta matriz superó en +$12.97M COP al modelo anterior, capturando mayor rentabilidad overnight en Bancolombia.</a:t>
            </a:r>
          </a:p>
          <a:p>
            <a:pPr>
              <a:spcAft>
                <a:spcPts val="400"/>
              </a:spcAft>
              <a:defRPr sz="950">
                <a:solidFill>
                  <a:srgbClr val="FFFFFF"/>
                </a:solidFill>
              </a:defRPr>
            </a:pPr>
            <a:r>
              <a:t>•  El Espejismo de Liquidez del Prototipo Previo: El squad anterior aparentaba 'menor uso de capital' únicamente porque dejó desatendida a la cuenta de BBVA en México, manteniéndola en insolvencia técnica continua durante el trimestre.</a:t>
            </a:r>
          </a:p>
          <a:p>
            <a:pPr>
              <a:spcAft>
                <a:spcPts val="400"/>
              </a:spcAft>
              <a:defRPr sz="950">
                <a:solidFill>
                  <a:srgbClr val="FFFFFF"/>
                </a:solidFill>
              </a:defRPr>
            </a:pPr>
            <a:r>
              <a:t>•  Fondeo Just-in-Time y Cero Riesgo Patrimonial: Nuestro motor garantizó solvencia en el 100% de las geografías sin sobre-inmovilizar capital. Las 3 cuentas operaron en zona de holgura financiera positiva continua.</a:t>
            </a:r>
          </a:p>
          <a:p>
            <a:pPr>
              <a:spcAft>
                <a:spcPts val="400"/>
              </a:spcAft>
              <a:defRPr sz="950">
                <a:solidFill>
                  <a:srgbClr val="FFFFFF"/>
                </a:solidFill>
              </a:defRPr>
            </a:pPr>
            <a:r>
              <a:t>•  Fricción Bancaria Marginal: El costo total directo de comisiones bancarias durante todo el período fue de tan solo $50 USD y $20 MXN, frente a cientos de dólares en transferencias reactivas del modelo previo.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CRISP-DM: FASE 6 • DEPLOYMENT &amp; GOVERNANCE</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Arquitectura Productiva, Pipeline End-to-End y 4 Circuit Breakers</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09 / 11</a:t>
            </a:r>
          </a:p>
        </p:txBody>
      </p:sp>
      <p:sp>
        <p:nvSpPr>
          <p:cNvPr id="6" name="Rounded Rectangle 5"/>
          <p:cNvSpPr/>
          <p:nvPr/>
        </p:nvSpPr>
        <p:spPr>
          <a:xfrm>
            <a:off x="731520" y="1280160"/>
            <a:ext cx="10728655"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332720" cy="274320"/>
          </a:xfrm>
          <a:prstGeom prst="rect">
            <a:avLst/>
          </a:prstGeom>
          <a:noFill/>
        </p:spPr>
        <p:txBody>
          <a:bodyPr wrap="none">
            <a:spAutoFit/>
          </a:bodyPr>
          <a:lstStyle/>
          <a:p>
            <a:pPr>
              <a:defRPr sz="1100" b="1">
                <a:solidFill>
                  <a:srgbClr val="FF5A1F"/>
                </a:solidFill>
              </a:defRPr>
            </a:pPr>
            <a:r>
              <a:t>PIPELINE PRODUCTIVO DE EJECUCIÓN DIARIA (ORQUESTACIÓN AUTOMATIZADA A LAS 06:00 UTC)</a:t>
            </a:r>
          </a:p>
        </p:txBody>
      </p:sp>
      <p:sp>
        <p:nvSpPr>
          <p:cNvPr id="8" name="Rounded Rectangle 7"/>
          <p:cNvSpPr/>
          <p:nvPr/>
        </p:nvSpPr>
        <p:spPr>
          <a:xfrm>
            <a:off x="914400" y="1691640"/>
            <a:ext cx="1920240" cy="7772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37360"/>
            <a:ext cx="1737360" cy="640080"/>
          </a:xfrm>
          <a:prstGeom prst="rect">
            <a:avLst/>
          </a:prstGeom>
          <a:noFill/>
        </p:spPr>
        <p:txBody>
          <a:bodyPr wrap="square">
            <a:spAutoFit/>
          </a:bodyPr>
          <a:lstStyle/>
          <a:p>
            <a:pPr>
              <a:defRPr sz="900" b="1">
                <a:solidFill>
                  <a:srgbClr val="FF5A1F"/>
                </a:solidFill>
              </a:defRPr>
            </a:pPr>
            <a:r>
              <a:t>01. INGESTA</a:t>
            </a:r>
          </a:p>
          <a:p>
            <a:pPr>
              <a:defRPr sz="850">
                <a:solidFill>
                  <a:srgbClr val="FFFFFF"/>
                </a:solidFill>
              </a:defRPr>
            </a:pPr>
            <a:r>
              <a:t>Cloud Storage / Snowflake</a:t>
            </a:r>
          </a:p>
        </p:txBody>
      </p:sp>
      <p:sp>
        <p:nvSpPr>
          <p:cNvPr id="10" name="Rounded Rectangle 9"/>
          <p:cNvSpPr/>
          <p:nvPr/>
        </p:nvSpPr>
        <p:spPr>
          <a:xfrm>
            <a:off x="3017520" y="1691640"/>
            <a:ext cx="1920240" cy="7772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08960" y="1737360"/>
            <a:ext cx="1737360" cy="640080"/>
          </a:xfrm>
          <a:prstGeom prst="rect">
            <a:avLst/>
          </a:prstGeom>
          <a:noFill/>
        </p:spPr>
        <p:txBody>
          <a:bodyPr wrap="square">
            <a:spAutoFit/>
          </a:bodyPr>
          <a:lstStyle/>
          <a:p>
            <a:pPr>
              <a:defRPr sz="900" b="1">
                <a:solidFill>
                  <a:srgbClr val="FF5A1F"/>
                </a:solidFill>
              </a:defRPr>
            </a:pPr>
            <a:r>
              <a:t>02. CALIDAD</a:t>
            </a:r>
          </a:p>
          <a:p>
            <a:pPr>
              <a:defRPr sz="850">
                <a:solidFill>
                  <a:srgbClr val="FFFFFF"/>
                </a:solidFill>
              </a:defRPr>
            </a:pPr>
            <a:r>
              <a:t>dbt Tests &amp; Conciliación</a:t>
            </a:r>
          </a:p>
        </p:txBody>
      </p:sp>
      <p:sp>
        <p:nvSpPr>
          <p:cNvPr id="12" name="Rounded Rectangle 11"/>
          <p:cNvSpPr/>
          <p:nvPr/>
        </p:nvSpPr>
        <p:spPr>
          <a:xfrm>
            <a:off x="5120640" y="1691640"/>
            <a:ext cx="1920240" cy="7772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1737360"/>
            <a:ext cx="1737360" cy="640080"/>
          </a:xfrm>
          <a:prstGeom prst="rect">
            <a:avLst/>
          </a:prstGeom>
          <a:noFill/>
        </p:spPr>
        <p:txBody>
          <a:bodyPr wrap="square">
            <a:spAutoFit/>
          </a:bodyPr>
          <a:lstStyle/>
          <a:p>
            <a:pPr>
              <a:defRPr sz="900" b="1">
                <a:solidFill>
                  <a:srgbClr val="FF5A1F"/>
                </a:solidFill>
              </a:defRPr>
            </a:pPr>
            <a:r>
              <a:t>03. ORQUESTACIÓN</a:t>
            </a:r>
          </a:p>
          <a:p>
            <a:pPr>
              <a:defRPr sz="850">
                <a:solidFill>
                  <a:srgbClr val="FFFFFF"/>
                </a:solidFill>
              </a:defRPr>
            </a:pPr>
            <a:r>
              <a:t>Airflow DAG (06:00 UTC)</a:t>
            </a:r>
          </a:p>
        </p:txBody>
      </p:sp>
      <p:sp>
        <p:nvSpPr>
          <p:cNvPr id="14" name="Rounded Rectangle 13"/>
          <p:cNvSpPr/>
          <p:nvPr/>
        </p:nvSpPr>
        <p:spPr>
          <a:xfrm>
            <a:off x="7223759" y="1691640"/>
            <a:ext cx="1920240" cy="7772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9" y="1737360"/>
            <a:ext cx="1737360" cy="640080"/>
          </a:xfrm>
          <a:prstGeom prst="rect">
            <a:avLst/>
          </a:prstGeom>
          <a:noFill/>
        </p:spPr>
        <p:txBody>
          <a:bodyPr wrap="square">
            <a:spAutoFit/>
          </a:bodyPr>
          <a:lstStyle/>
          <a:p>
            <a:pPr>
              <a:defRPr sz="900" b="1">
                <a:solidFill>
                  <a:srgbClr val="FF5A1F"/>
                </a:solidFill>
              </a:defRPr>
            </a:pPr>
            <a:r>
              <a:t>04. PREDICCIÓN</a:t>
            </a:r>
          </a:p>
          <a:p>
            <a:pPr>
              <a:defRPr sz="850">
                <a:solidFill>
                  <a:srgbClr val="FFFFFF"/>
                </a:solidFill>
              </a:defRPr>
            </a:pPr>
            <a:r>
              <a:t>GCP Vertex AI Endpoint</a:t>
            </a:r>
          </a:p>
        </p:txBody>
      </p:sp>
      <p:sp>
        <p:nvSpPr>
          <p:cNvPr id="16" name="Rounded Rectangle 15"/>
          <p:cNvSpPr/>
          <p:nvPr/>
        </p:nvSpPr>
        <p:spPr>
          <a:xfrm>
            <a:off x="9326880" y="1691640"/>
            <a:ext cx="1920240" cy="77724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1737360"/>
            <a:ext cx="1737360" cy="640080"/>
          </a:xfrm>
          <a:prstGeom prst="rect">
            <a:avLst/>
          </a:prstGeom>
          <a:noFill/>
        </p:spPr>
        <p:txBody>
          <a:bodyPr wrap="square">
            <a:spAutoFit/>
          </a:bodyPr>
          <a:lstStyle/>
          <a:p>
            <a:pPr>
              <a:defRPr sz="900" b="1">
                <a:solidFill>
                  <a:srgbClr val="FF5A1F"/>
                </a:solidFill>
              </a:defRPr>
            </a:pPr>
            <a:r>
              <a:t>05. GOBERNANZA</a:t>
            </a:r>
          </a:p>
          <a:p>
            <a:pPr>
              <a:defRPr sz="850">
                <a:solidFill>
                  <a:srgbClr val="FFFFFF"/>
                </a:solidFill>
              </a:defRPr>
            </a:pPr>
            <a:r>
              <a:t>Despacho Seguro a Core Bancario</a:t>
            </a:r>
          </a:p>
        </p:txBody>
      </p:sp>
      <p:sp>
        <p:nvSpPr>
          <p:cNvPr id="18" name="Rounded Rectangle 17"/>
          <p:cNvSpPr/>
          <p:nvPr/>
        </p:nvSpPr>
        <p:spPr>
          <a:xfrm>
            <a:off x="731520" y="2788920"/>
            <a:ext cx="52120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880360"/>
            <a:ext cx="4846320" cy="274320"/>
          </a:xfrm>
          <a:prstGeom prst="rect">
            <a:avLst/>
          </a:prstGeom>
          <a:noFill/>
        </p:spPr>
        <p:txBody>
          <a:bodyPr wrap="none">
            <a:spAutoFit/>
          </a:bodyPr>
          <a:lstStyle/>
          <a:p>
            <a:pPr>
              <a:defRPr sz="1050" b="1">
                <a:solidFill>
                  <a:srgbClr val="EF4444"/>
                </a:solidFill>
              </a:defRPr>
            </a:pPr>
            <a:r>
              <a:t>LOS 4 CIRCUIT BREAKERS AUTOMÁTICOS DE SEGURIDAD</a:t>
            </a:r>
          </a:p>
        </p:txBody>
      </p:sp>
      <p:sp>
        <p:nvSpPr>
          <p:cNvPr id="20" name="TextBox 19"/>
          <p:cNvSpPr txBox="1"/>
          <p:nvPr/>
        </p:nvSpPr>
        <p:spPr>
          <a:xfrm>
            <a:off x="914400" y="3200400"/>
            <a:ext cx="4846320" cy="3108960"/>
          </a:xfrm>
          <a:prstGeom prst="rect">
            <a:avLst/>
          </a:prstGeom>
          <a:noFill/>
        </p:spPr>
        <p:txBody>
          <a:bodyPr wrap="square" lIns="0" rIns="0" tIns="0" bIns="0">
            <a:spAutoFit/>
          </a:bodyPr>
          <a:lstStyle/>
          <a:p>
            <a:pPr>
              <a:spcAft>
                <a:spcPts val="500"/>
              </a:spcAft>
              <a:defRPr sz="919">
                <a:solidFill>
                  <a:srgbClr val="0F172A"/>
                </a:solidFill>
              </a:defRPr>
            </a:pPr>
            <a:r>
              <a:t>•  1. Breaker de Integridad Contable: Si se detecta descuadre o incoherencia entre saldos y movimientos en los datos de entrada, el pipeline aborta la inferencia y notifica a Ingeniería de Datos.</a:t>
            </a:r>
          </a:p>
          <a:p>
            <a:pPr>
              <a:spcAft>
                <a:spcPts val="500"/>
              </a:spcAft>
              <a:defRPr sz="919">
                <a:solidFill>
                  <a:srgbClr val="0F172A"/>
                </a:solidFill>
              </a:defRPr>
            </a:pPr>
            <a:r>
              <a:t>•  2. Breaker de Solvencia Inviolable: Bloquea automáticamente cualquier orden si el balance remanente de la cuenta matriz (COP) cae por debajo de su piso de seguridad ($1,000M COP).</a:t>
            </a:r>
          </a:p>
          <a:p>
            <a:pPr>
              <a:spcAft>
                <a:spcPts val="500"/>
              </a:spcAft>
              <a:defRPr sz="919">
                <a:solidFill>
                  <a:srgbClr val="0F172A"/>
                </a:solidFill>
              </a:defRPr>
            </a:pPr>
            <a:r>
              <a:t>•  3. Breaker de Techo Diario de Movilización: Impide transferir más del 15% del activo consolidado en una sola jornada, conteniendo riesgos operativos y shocks macroeconómicos.</a:t>
            </a:r>
          </a:p>
          <a:p>
            <a:pPr>
              <a:spcAft>
                <a:spcPts val="500"/>
              </a:spcAft>
              <a:defRPr sz="919">
                <a:solidFill>
                  <a:srgbClr val="0F172A"/>
                </a:solidFill>
              </a:defRPr>
            </a:pPr>
            <a:r>
              <a:t>•  4. Breaker de Aislamiento Cambiario: Prohíbe en código realizar conversiones automáticas entre diferentes divisas, blindando a tesorería contra pérdidas por spread cambiario.</a:t>
            </a:r>
          </a:p>
        </p:txBody>
      </p:sp>
      <p:sp>
        <p:nvSpPr>
          <p:cNvPr id="21" name="Rounded Rectangle 20"/>
          <p:cNvSpPr/>
          <p:nvPr/>
        </p:nvSpPr>
        <p:spPr>
          <a:xfrm>
            <a:off x="6217920" y="2788920"/>
            <a:ext cx="5242255"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880360"/>
            <a:ext cx="4873752" cy="274320"/>
          </a:xfrm>
          <a:prstGeom prst="rect">
            <a:avLst/>
          </a:prstGeom>
          <a:noFill/>
        </p:spPr>
        <p:txBody>
          <a:bodyPr wrap="none">
            <a:spAutoFit/>
          </a:bodyPr>
          <a:lstStyle/>
          <a:p>
            <a:pPr>
              <a:defRPr sz="1050" b="1">
                <a:solidFill>
                  <a:srgbClr val="10B981"/>
                </a:solidFill>
              </a:defRPr>
            </a:pPr>
            <a:r>
              <a:t>DESPACHO ATÓMICO, OBSERVABILIDAD Y AUDITORÍA CRIPTOGRÁFICA</a:t>
            </a:r>
          </a:p>
        </p:txBody>
      </p:sp>
      <p:sp>
        <p:nvSpPr>
          <p:cNvPr id="23" name="TextBox 22"/>
          <p:cNvSpPr txBox="1"/>
          <p:nvPr/>
        </p:nvSpPr>
        <p:spPr>
          <a:xfrm>
            <a:off x="6400800" y="3200400"/>
            <a:ext cx="4873752" cy="3108960"/>
          </a:xfrm>
          <a:prstGeom prst="rect">
            <a:avLst/>
          </a:prstGeom>
          <a:noFill/>
        </p:spPr>
        <p:txBody>
          <a:bodyPr wrap="square" lIns="0" rIns="0" tIns="0" bIns="0">
            <a:spAutoFit/>
          </a:bodyPr>
          <a:lstStyle/>
          <a:p>
            <a:pPr>
              <a:spcAft>
                <a:spcPts val="500"/>
              </a:spcAft>
              <a:defRPr sz="919">
                <a:solidFill>
                  <a:srgbClr val="0F172A"/>
                </a:solidFill>
              </a:defRPr>
            </a:pPr>
            <a:r>
              <a:t>•  Transmisión Segura a Core Bancario: Ejecución idempotente y atómica hacia las APIs bancarias de compensación (SPEI / ACH / SWIFT).</a:t>
            </a:r>
          </a:p>
          <a:p>
            <a:pPr>
              <a:spcAft>
                <a:spcPts val="500"/>
              </a:spcAft>
              <a:defRPr sz="919">
                <a:solidFill>
                  <a:srgbClr val="0F172A"/>
                </a:solidFill>
              </a:defRPr>
            </a:pPr>
            <a:r>
              <a:t>•  Trazabilidad Criptográfica SHA-256: Cada orden emitida genera una huella digital inmutable que registra saldos previos, montos calculados y justificación del modelo.</a:t>
            </a:r>
          </a:p>
          <a:p>
            <a:pPr>
              <a:spcAft>
                <a:spcPts val="500"/>
              </a:spcAft>
              <a:defRPr sz="919">
                <a:solidFill>
                  <a:srgbClr val="0F172A"/>
                </a:solidFill>
              </a:defRPr>
            </a:pPr>
            <a:r>
              <a:t>•  Monitoreo Continuo de Deriva (Drift MLOps): Cálculo diario de estabilidad poblacional (KS y PSI); ante desplazamientos severos (PSI &gt; 0.25), conmuta automáticamente a modo heurístico defensivo.</a:t>
            </a:r>
          </a:p>
          <a:p>
            <a:pPr>
              <a:spcAft>
                <a:spcPts val="500"/>
              </a:spcAft>
              <a:defRPr sz="919">
                <a:solidFill>
                  <a:srgbClr val="0F172A"/>
                </a:solidFill>
              </a:defRPr>
            </a:pPr>
            <a:r>
              <a:t>•  Gobernanza Champion-Challenger: El modelo Ridge opera como titular; modelos alternativos compiten en sombra durante 60 días antes de considerar cualquier relevo.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PARTE 4 • TRANSPARENCIA METODOLÓGICA &amp; LIDERAZGO TÉCNICO</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FFFFFF"/>
                </a:solidFill>
              </a:defRPr>
            </a:pPr>
            <a:r>
              <a:t>Formas de Trabajo con IA: Productividad Aumentada vs. Criterio Humano Senior</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10 / 11</a:t>
            </a:r>
          </a:p>
        </p:txBody>
      </p:sp>
      <p:sp>
        <p:nvSpPr>
          <p:cNvPr id="6" name="Rounded Rectangle 5"/>
          <p:cNvSpPr/>
          <p:nvPr/>
        </p:nvSpPr>
        <p:spPr>
          <a:xfrm>
            <a:off x="731520" y="1280160"/>
            <a:ext cx="5212080" cy="429768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846320" cy="320040"/>
          </a:xfrm>
          <a:prstGeom prst="rect">
            <a:avLst/>
          </a:prstGeom>
          <a:noFill/>
        </p:spPr>
        <p:txBody>
          <a:bodyPr wrap="none">
            <a:spAutoFit/>
          </a:bodyPr>
          <a:lstStyle/>
          <a:p>
            <a:pPr>
              <a:defRPr sz="1050" b="1">
                <a:solidFill>
                  <a:srgbClr val="10B981"/>
                </a:solidFill>
              </a:defRPr>
            </a:pPr>
            <a:r>
              <a:t>DÓNDE SÍ SE APALANCÓ IA GENERATIVA (~60% Ahorro de Tiempo)</a:t>
            </a:r>
          </a:p>
        </p:txBody>
      </p:sp>
      <p:sp>
        <p:nvSpPr>
          <p:cNvPr id="8" name="TextBox 7"/>
          <p:cNvSpPr txBox="1"/>
          <p:nvPr/>
        </p:nvSpPr>
        <p:spPr>
          <a:xfrm>
            <a:off x="914400" y="1828800"/>
            <a:ext cx="4846320" cy="3566160"/>
          </a:xfrm>
          <a:prstGeom prst="rect">
            <a:avLst/>
          </a:prstGeom>
          <a:noFill/>
        </p:spPr>
        <p:txBody>
          <a:bodyPr wrap="square" lIns="0" rIns="0" tIns="0" bIns="0">
            <a:spAutoFit/>
          </a:bodyPr>
          <a:lstStyle/>
          <a:p>
            <a:pPr>
              <a:spcAft>
                <a:spcPts val="600"/>
              </a:spcAft>
              <a:defRPr sz="919">
                <a:solidFill>
                  <a:srgbClr val="FFFFFF"/>
                </a:solidFill>
              </a:defRPr>
            </a:pPr>
            <a:r>
              <a:t>•  Scaffolding y Suites de Pruebas Unitarias: Generación acelerada de la suite de pruebas en pytest (test_data_integrity.py) para validar aserciones contables e integridad referencial.</a:t>
            </a:r>
          </a:p>
          <a:p>
            <a:pPr>
              <a:spcAft>
                <a:spcPts val="600"/>
              </a:spcAft>
              <a:defRPr sz="919">
                <a:solidFill>
                  <a:srgbClr val="FFFFFF"/>
                </a:solidFill>
              </a:defRPr>
            </a:pPr>
            <a:r>
              <a:t>•  Expresiones Regulares Complejas: Construcción rápida de regex para normalizar formatos heterogéneos de fechas (DD/MM/YYYY, YYYY-MM-DD, MM-DD-YYYY) sin descartar registros históricos.</a:t>
            </a:r>
          </a:p>
          <a:p>
            <a:pPr>
              <a:spcAft>
                <a:spcPts val="600"/>
              </a:spcAft>
              <a:defRPr sz="919">
                <a:solidFill>
                  <a:srgbClr val="FFFFFF"/>
                </a:solidFill>
              </a:defRPr>
            </a:pPr>
            <a:r>
              <a:t>•  Automatización de Código y Linters: Empleo de skills de análisis estático (PEP-8, tipado estricto, modularización de pipelines) reduciendo la fricción de desarrollo de días a horas.</a:t>
            </a:r>
          </a:p>
          <a:p>
            <a:pPr>
              <a:spcAft>
                <a:spcPts val="600"/>
              </a:spcAft>
              <a:defRPr sz="919">
                <a:solidFill>
                  <a:srgbClr val="FFFFFF"/>
                </a:solidFill>
              </a:defRPr>
            </a:pPr>
            <a:r>
              <a:t>•  Benchmarking y Revisión Bibliográfica: Consulta y contrastación ágil de literatura en optimización estocástica de inventarios aplicada a tesorería (modelos (s, S) de Arrow-Harris-Marschak).</a:t>
            </a:r>
          </a:p>
        </p:txBody>
      </p:sp>
      <p:sp>
        <p:nvSpPr>
          <p:cNvPr id="9" name="Rounded Rectangle 8"/>
          <p:cNvSpPr/>
          <p:nvPr/>
        </p:nvSpPr>
        <p:spPr>
          <a:xfrm>
            <a:off x="6217920" y="1280160"/>
            <a:ext cx="5242255" cy="4297680"/>
          </a:xfrm>
          <a:prstGeom prst="roundRect">
            <a:avLst/>
          </a:prstGeom>
          <a:solidFill>
            <a:srgbClr val="1E293B"/>
          </a:solidFill>
          <a:ln w="12700">
            <a:solidFill>
              <a:srgbClr val="FF5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417320"/>
            <a:ext cx="4873752" cy="320040"/>
          </a:xfrm>
          <a:prstGeom prst="rect">
            <a:avLst/>
          </a:prstGeom>
          <a:noFill/>
        </p:spPr>
        <p:txBody>
          <a:bodyPr wrap="none">
            <a:spAutoFit/>
          </a:bodyPr>
          <a:lstStyle/>
          <a:p>
            <a:pPr>
              <a:defRPr sz="1050" b="1">
                <a:solidFill>
                  <a:srgbClr val="FF5A1F"/>
                </a:solidFill>
              </a:defRPr>
            </a:pPr>
            <a:r>
              <a:t>DÓNDE DELIBERADAMENTE NO SE USÓ IA (Juicio Humano Irreemplazable)</a:t>
            </a:r>
          </a:p>
        </p:txBody>
      </p:sp>
      <p:sp>
        <p:nvSpPr>
          <p:cNvPr id="11" name="TextBox 10"/>
          <p:cNvSpPr txBox="1"/>
          <p:nvPr/>
        </p:nvSpPr>
        <p:spPr>
          <a:xfrm>
            <a:off x="6400800" y="1828800"/>
            <a:ext cx="4873752" cy="3566160"/>
          </a:xfrm>
          <a:prstGeom prst="rect">
            <a:avLst/>
          </a:prstGeom>
          <a:noFill/>
        </p:spPr>
        <p:txBody>
          <a:bodyPr wrap="square" lIns="0" rIns="0" tIns="0" bIns="0">
            <a:spAutoFit/>
          </a:bodyPr>
          <a:lstStyle/>
          <a:p>
            <a:pPr>
              <a:spcAft>
                <a:spcPts val="500"/>
              </a:spcAft>
              <a:defRPr sz="919">
                <a:solidFill>
                  <a:srgbClr val="FFFFFF"/>
                </a:solidFill>
              </a:defRPr>
            </a:pPr>
            <a:r>
              <a:t>•  Diagnóstico Forense y Descubrimiento del 10x: Los LLMs recomendaban 'imputar con la media' o 'eliminar outliers'. Solo el criterio humano identificó el error decimal 10x y las 4 polaridades invertidas, salvando los datos reales.</a:t>
            </a:r>
          </a:p>
          <a:p>
            <a:pPr>
              <a:spcAft>
                <a:spcPts val="500"/>
              </a:spcAft>
              <a:defRPr sz="919">
                <a:solidFill>
                  <a:srgbClr val="FFFFFF"/>
                </a:solidFill>
              </a:defRPr>
            </a:pPr>
            <a:r>
              <a:t>•  Causalidad Temporal y Latencia Bancaria (T+L): Comprender los plazos de acreditación y estructurar la partición temporal sin filtración de futuro (zero lookahead bias) requiere experiencia financiera real.</a:t>
            </a:r>
          </a:p>
          <a:p>
            <a:pPr>
              <a:spcAft>
                <a:spcPts val="500"/>
              </a:spcAft>
              <a:defRPr sz="919">
                <a:solidFill>
                  <a:srgbClr val="FFFFFF"/>
                </a:solidFill>
              </a:defRPr>
            </a:pPr>
            <a:r>
              <a:t>•  Física de 'Tanque vs. Caudal': Concebir que los saldos acumulan error y que la meta predictiva debía ser el flujo neto diario estacionario fue una decisión metodológica humana.</a:t>
            </a:r>
          </a:p>
          <a:p>
            <a:pPr>
              <a:spcAft>
                <a:spcPts val="500"/>
              </a:spcAft>
              <a:defRPr sz="919">
                <a:solidFill>
                  <a:srgbClr val="FFFFFF"/>
                </a:solidFill>
              </a:defRPr>
            </a:pPr>
            <a:r>
              <a:t>•  Arquitectura en Dos Capas: Separar el momento de actuar (lead time) del tamaño de la recarga (colchón quincenal) para abatir el sobre-rebalanceo en 96.9%.</a:t>
            </a:r>
          </a:p>
          <a:p>
            <a:pPr>
              <a:spcAft>
                <a:spcPts val="500"/>
              </a:spcAft>
              <a:defRPr sz="919">
                <a:solidFill>
                  <a:srgbClr val="FFFFFF"/>
                </a:solidFill>
              </a:defRPr>
            </a:pPr>
            <a:r>
              <a:t>•  Gobernanza de Solvencia y Circuit Breakers: Definición del piso intocable de Bancolombia ($1,000M COP) y las compuertas de seguridad institucional para proteger el patrimonio de Cobre.</a:t>
            </a:r>
          </a:p>
        </p:txBody>
      </p:sp>
      <p:sp>
        <p:nvSpPr>
          <p:cNvPr id="12" name="Rounded Rectangle 11"/>
          <p:cNvSpPr/>
          <p:nvPr/>
        </p:nvSpPr>
        <p:spPr>
          <a:xfrm>
            <a:off x="731520" y="5715000"/>
            <a:ext cx="10728655" cy="731520"/>
          </a:xfrm>
          <a:prstGeom prst="round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806440"/>
            <a:ext cx="10332720" cy="548640"/>
          </a:xfrm>
          <a:prstGeom prst="rect">
            <a:avLst/>
          </a:prstGeom>
          <a:noFill/>
        </p:spPr>
        <p:txBody>
          <a:bodyPr wrap="square">
            <a:spAutoFit/>
          </a:bodyPr>
          <a:lstStyle/>
          <a:p>
            <a:pPr>
              <a:defRPr sz="1000" b="1">
                <a:solidFill>
                  <a:srgbClr val="FFFFFF"/>
                </a:solidFill>
              </a:defRPr>
            </a:pPr>
            <a:r>
              <a:t>REFLEXIÓN DE LIDERAZGO TÉCNICO: La IA multiplica la velocidad operativa y la cobertura técnica, pero la formulación matemática, la estrategia financiera y la gobernanza de riesgos dependen del juicio crítico y la experiencia de negocio del Technical Lead.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292608"/>
          </a:xfrm>
          <a:prstGeom prst="rect">
            <a:avLst/>
          </a:prstGeom>
          <a:noFill/>
        </p:spPr>
        <p:txBody>
          <a:bodyPr wrap="square" lIns="0" rIns="0" tIns="0" bIns="0">
            <a:spAutoFit/>
          </a:bodyPr>
          <a:lstStyle/>
          <a:p>
            <a:pPr>
              <a:defRPr sz="1000" b="1">
                <a:solidFill>
                  <a:srgbClr val="FF5A1F"/>
                </a:solidFill>
              </a:defRPr>
            </a:pPr>
            <a:r>
              <a:t>CONCLUSIONES ESTRATÉGICAS &amp; HOJA DE RUTA</a:t>
            </a:r>
          </a:p>
        </p:txBody>
      </p:sp>
      <p:sp>
        <p:nvSpPr>
          <p:cNvPr id="4" name="TextBox 3"/>
          <p:cNvSpPr txBox="1"/>
          <p:nvPr/>
        </p:nvSpPr>
        <p:spPr>
          <a:xfrm>
            <a:off x="731520" y="658368"/>
            <a:ext cx="10241280" cy="548640"/>
          </a:xfrm>
          <a:prstGeom prst="rect">
            <a:avLst/>
          </a:prstGeom>
          <a:noFill/>
        </p:spPr>
        <p:txBody>
          <a:bodyPr wrap="square" lIns="0" rIns="0" tIns="0" bIns="0">
            <a:spAutoFit/>
          </a:bodyPr>
          <a:lstStyle/>
          <a:p>
            <a:pPr>
              <a:defRPr sz="2000" b="1">
                <a:solidFill>
                  <a:srgbClr val="0F172A"/>
                </a:solidFill>
              </a:defRPr>
            </a:pPr>
            <a:r>
              <a:t>Conclusiones del Technical Lead y Hoja de Ruta Tecnológica</a:t>
            </a:r>
          </a:p>
        </p:txBody>
      </p:sp>
      <p:sp>
        <p:nvSpPr>
          <p:cNvPr id="5" name="TextBox 4"/>
          <p:cNvSpPr txBox="1"/>
          <p:nvPr/>
        </p:nvSpPr>
        <p:spPr>
          <a:xfrm>
            <a:off x="10515600" y="365760"/>
            <a:ext cx="914400" cy="320040"/>
          </a:xfrm>
          <a:prstGeom prst="rect">
            <a:avLst/>
          </a:prstGeom>
          <a:noFill/>
        </p:spPr>
        <p:txBody>
          <a:bodyPr wrap="none" lIns="0" rIns="0" tIns="0" bIns="0">
            <a:spAutoFit/>
          </a:bodyPr>
          <a:lstStyle/>
          <a:p>
            <a:pPr algn="r">
              <a:defRPr sz="1000" b="1">
                <a:solidFill>
                  <a:srgbClr val="64748B"/>
                </a:solidFill>
              </a:defRPr>
            </a:pPr>
            <a:r>
              <a:t>11 / 11</a:t>
            </a:r>
          </a:p>
        </p:txBody>
      </p:sp>
      <p:sp>
        <p:nvSpPr>
          <p:cNvPr id="6" name="Rounded Rectangle 5"/>
          <p:cNvSpPr/>
          <p:nvPr/>
        </p:nvSpPr>
        <p:spPr>
          <a:xfrm>
            <a:off x="731520" y="1280160"/>
            <a:ext cx="3413455"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3136392" cy="320040"/>
          </a:xfrm>
          <a:prstGeom prst="rect">
            <a:avLst/>
          </a:prstGeom>
          <a:noFill/>
        </p:spPr>
        <p:txBody>
          <a:bodyPr wrap="none">
            <a:spAutoFit/>
          </a:bodyPr>
          <a:lstStyle/>
          <a:p>
            <a:pPr>
              <a:defRPr sz="1050" b="1">
                <a:solidFill>
                  <a:srgbClr val="FF5A1F"/>
                </a:solidFill>
              </a:defRPr>
            </a:pPr>
            <a:r>
              <a:t>1. RIGOR METODOLÓGICO Y CONTABLE</a:t>
            </a:r>
          </a:p>
        </p:txBody>
      </p:sp>
      <p:sp>
        <p:nvSpPr>
          <p:cNvPr id="8" name="TextBox 7"/>
          <p:cNvSpPr txBox="1"/>
          <p:nvPr/>
        </p:nvSpPr>
        <p:spPr>
          <a:xfrm>
            <a:off x="868680" y="1783080"/>
            <a:ext cx="3136392" cy="2194560"/>
          </a:xfrm>
          <a:prstGeom prst="rect">
            <a:avLst/>
          </a:prstGeom>
          <a:noFill/>
        </p:spPr>
        <p:txBody>
          <a:bodyPr wrap="square" lIns="0" rIns="0" tIns="0" bIns="0">
            <a:spAutoFit/>
          </a:bodyPr>
          <a:lstStyle/>
          <a:p>
            <a:pPr>
              <a:spcAft>
                <a:spcPts val="600"/>
              </a:spcAft>
              <a:defRPr sz="919">
                <a:solidFill>
                  <a:srgbClr val="0F172A"/>
                </a:solidFill>
              </a:defRPr>
            </a:pPr>
            <a:r>
              <a:t>•  Diagnóstico forense que desmitificó el supuesto 9.6% de quiebres y rescató el 100% de la historia.</a:t>
            </a:r>
          </a:p>
          <a:p>
            <a:pPr>
              <a:spcAft>
                <a:spcPts val="600"/>
              </a:spcAft>
              <a:defRPr sz="919">
                <a:solidFill>
                  <a:srgbClr val="0F172A"/>
                </a:solidFill>
              </a:defRPr>
            </a:pPr>
            <a:r>
              <a:t>•  Variable objetivo formulada en flujos netos diarios estacionarios, eliminando la deriva de saldo.</a:t>
            </a:r>
          </a:p>
          <a:p>
            <a:pPr>
              <a:spcAft>
                <a:spcPts val="600"/>
              </a:spcAft>
              <a:defRPr sz="919">
                <a:solidFill>
                  <a:srgbClr val="0F172A"/>
                </a:solidFill>
              </a:defRPr>
            </a:pPr>
            <a:r>
              <a:t>•  Modelo lineal Ridge L2 completamente explicable, auditable y transparente ante reguladores.</a:t>
            </a:r>
          </a:p>
        </p:txBody>
      </p:sp>
      <p:sp>
        <p:nvSpPr>
          <p:cNvPr id="9" name="Rounded Rectangle 8"/>
          <p:cNvSpPr/>
          <p:nvPr/>
        </p:nvSpPr>
        <p:spPr>
          <a:xfrm>
            <a:off x="4389120" y="1280160"/>
            <a:ext cx="3413455"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371600"/>
            <a:ext cx="3136392" cy="320040"/>
          </a:xfrm>
          <a:prstGeom prst="rect">
            <a:avLst/>
          </a:prstGeom>
          <a:noFill/>
        </p:spPr>
        <p:txBody>
          <a:bodyPr wrap="none">
            <a:spAutoFit/>
          </a:bodyPr>
          <a:lstStyle/>
          <a:p>
            <a:pPr>
              <a:defRPr sz="1050" b="1">
                <a:solidFill>
                  <a:srgbClr val="10B981"/>
                </a:solidFill>
              </a:defRPr>
            </a:pPr>
            <a:r>
              <a:t>2. IMPACTO FINANCIERO COMPROBADO</a:t>
            </a:r>
          </a:p>
        </p:txBody>
      </p:sp>
      <p:sp>
        <p:nvSpPr>
          <p:cNvPr id="11" name="TextBox 10"/>
          <p:cNvSpPr txBox="1"/>
          <p:nvPr/>
        </p:nvSpPr>
        <p:spPr>
          <a:xfrm>
            <a:off x="4526280" y="1783080"/>
            <a:ext cx="3136392" cy="2194560"/>
          </a:xfrm>
          <a:prstGeom prst="rect">
            <a:avLst/>
          </a:prstGeom>
          <a:noFill/>
        </p:spPr>
        <p:txBody>
          <a:bodyPr wrap="square" lIns="0" rIns="0" tIns="0" bIns="0">
            <a:spAutoFit/>
          </a:bodyPr>
          <a:lstStyle/>
          <a:p>
            <a:pPr>
              <a:spcAft>
                <a:spcPts val="600"/>
              </a:spcAft>
              <a:defRPr sz="919">
                <a:solidFill>
                  <a:srgbClr val="0F172A"/>
                </a:solidFill>
              </a:defRPr>
            </a:pPr>
            <a:r>
              <a:t>•  100% de cumplimiento en SLA: CERO días en déficit en los 70 días de prueba fuera de muestra.</a:t>
            </a:r>
          </a:p>
          <a:p>
            <a:pPr>
              <a:spcAft>
                <a:spcPts val="600"/>
              </a:spcAft>
              <a:defRPr sz="919">
                <a:solidFill>
                  <a:srgbClr val="0F172A"/>
                </a:solidFill>
              </a:defRPr>
            </a:pPr>
            <a:r>
              <a:t>•  96.9% de reducción en transferencias bancarias: de 97 operaciones reactivas a solo 3 fondeos quincenales.</a:t>
            </a:r>
          </a:p>
          <a:p>
            <a:pPr>
              <a:spcAft>
                <a:spcPts val="600"/>
              </a:spcAft>
              <a:defRPr sz="919">
                <a:solidFill>
                  <a:srgbClr val="0F172A"/>
                </a:solidFill>
              </a:defRPr>
            </a:pPr>
            <a:r>
              <a:t>•  Preservación del float en la matriz (+12.97M COP) y costo de comisiones marginal ($50 USD + $20 MXN).</a:t>
            </a:r>
          </a:p>
        </p:txBody>
      </p:sp>
      <p:sp>
        <p:nvSpPr>
          <p:cNvPr id="12" name="Rounded Rectangle 11"/>
          <p:cNvSpPr/>
          <p:nvPr/>
        </p:nvSpPr>
        <p:spPr>
          <a:xfrm>
            <a:off x="8046720" y="1280160"/>
            <a:ext cx="3413455"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371600"/>
            <a:ext cx="3136392" cy="320040"/>
          </a:xfrm>
          <a:prstGeom prst="rect">
            <a:avLst/>
          </a:prstGeom>
          <a:noFill/>
        </p:spPr>
        <p:txBody>
          <a:bodyPr wrap="none">
            <a:spAutoFit/>
          </a:bodyPr>
          <a:lstStyle/>
          <a:p>
            <a:pPr>
              <a:defRPr sz="1050" b="1">
                <a:solidFill>
                  <a:srgbClr val="0EA5E9"/>
                </a:solidFill>
              </a:defRPr>
            </a:pPr>
            <a:r>
              <a:t>3. GOBERNANZA Y ESCALABILIDAD</a:t>
            </a:r>
          </a:p>
        </p:txBody>
      </p:sp>
      <p:sp>
        <p:nvSpPr>
          <p:cNvPr id="14" name="TextBox 13"/>
          <p:cNvSpPr txBox="1"/>
          <p:nvPr/>
        </p:nvSpPr>
        <p:spPr>
          <a:xfrm>
            <a:off x="8183880" y="1783080"/>
            <a:ext cx="3136392" cy="2194560"/>
          </a:xfrm>
          <a:prstGeom prst="rect">
            <a:avLst/>
          </a:prstGeom>
          <a:noFill/>
        </p:spPr>
        <p:txBody>
          <a:bodyPr wrap="square" lIns="0" rIns="0" tIns="0" bIns="0">
            <a:spAutoFit/>
          </a:bodyPr>
          <a:lstStyle/>
          <a:p>
            <a:pPr>
              <a:spcAft>
                <a:spcPts val="600"/>
              </a:spcAft>
              <a:defRPr sz="919">
                <a:solidFill>
                  <a:srgbClr val="0F172A"/>
                </a:solidFill>
              </a:defRPr>
            </a:pPr>
            <a:r>
              <a:t>•  4 Circuit Breakers automáticos que blindan la cuenta nodriza y contienen anomalías operativas.</a:t>
            </a:r>
          </a:p>
          <a:p>
            <a:pPr>
              <a:spcAft>
                <a:spcPts val="600"/>
              </a:spcAft>
              <a:defRPr sz="919">
                <a:solidFill>
                  <a:srgbClr val="0F172A"/>
                </a:solidFill>
              </a:defRPr>
            </a:pPr>
            <a:r>
              <a:t>•  Pipeline productivo en Airflow a las 06:00 UTC con contratos de datos dbt y observabilidad MLOps (KS / PSI).</a:t>
            </a:r>
          </a:p>
          <a:p>
            <a:pPr>
              <a:spcAft>
                <a:spcPts val="600"/>
              </a:spcAft>
              <a:defRPr sz="919">
                <a:solidFill>
                  <a:srgbClr val="0F172A"/>
                </a:solidFill>
              </a:defRPr>
            </a:pPr>
            <a:r>
              <a:t>•  Despacho seguro de órdenes con firma criptográfica y esquema de competencia Champion-Challenger.</a:t>
            </a:r>
          </a:p>
        </p:txBody>
      </p:sp>
      <p:sp>
        <p:nvSpPr>
          <p:cNvPr id="15" name="Rounded Rectangle 14"/>
          <p:cNvSpPr/>
          <p:nvPr/>
        </p:nvSpPr>
        <p:spPr>
          <a:xfrm>
            <a:off x="731520" y="4297680"/>
            <a:ext cx="10728655" cy="2148840"/>
          </a:xfrm>
          <a:prstGeom prst="roundRect">
            <a:avLst/>
          </a:prstGeom>
          <a:solidFill>
            <a:srgbClr val="1E293B"/>
          </a:solidFill>
          <a:ln w="12700">
            <a:solidFill>
              <a:srgbClr val="FF5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389120"/>
            <a:ext cx="10332720" cy="320040"/>
          </a:xfrm>
          <a:prstGeom prst="rect">
            <a:avLst/>
          </a:prstGeom>
          <a:noFill/>
        </p:spPr>
        <p:txBody>
          <a:bodyPr wrap="none">
            <a:spAutoFit/>
          </a:bodyPr>
          <a:lstStyle/>
          <a:p>
            <a:pPr>
              <a:defRPr sz="1100" b="1">
                <a:solidFill>
                  <a:srgbClr val="FF5A1F"/>
                </a:solidFill>
              </a:defRPr>
            </a:pPr>
            <a:r>
              <a:t>HOJA DE RUTA TECNOLÓGICA (PRÓXIMAS FASES DE EVOLUCIÓN EN COBRE)</a:t>
            </a:r>
          </a:p>
        </p:txBody>
      </p:sp>
      <p:sp>
        <p:nvSpPr>
          <p:cNvPr id="17" name="TextBox 16"/>
          <p:cNvSpPr txBox="1"/>
          <p:nvPr/>
        </p:nvSpPr>
        <p:spPr>
          <a:xfrm>
            <a:off x="914400" y="4754880"/>
            <a:ext cx="10332720" cy="1554480"/>
          </a:xfrm>
          <a:prstGeom prst="rect">
            <a:avLst/>
          </a:prstGeom>
          <a:noFill/>
        </p:spPr>
        <p:txBody>
          <a:bodyPr wrap="square" lIns="0" rIns="0" tIns="0" bIns="0">
            <a:spAutoFit/>
          </a:bodyPr>
          <a:lstStyle/>
          <a:p>
            <a:pPr>
              <a:spcAft>
                <a:spcPts val="400"/>
              </a:spcAft>
              <a:defRPr sz="919">
                <a:solidFill>
                  <a:srgbClr val="FFFFFF"/>
                </a:solidFill>
              </a:defRPr>
            </a:pPr>
            <a:r>
              <a:t>•  Fase A (Data Cloud &amp; Streaming): Integración nativa con Snowflake / BigQuery y validación contable sub-minutaria con dbt.</a:t>
            </a:r>
          </a:p>
          <a:p>
            <a:pPr>
              <a:spcAft>
                <a:spcPts val="400"/>
              </a:spcAft>
              <a:defRPr sz="919">
                <a:solidFill>
                  <a:srgbClr val="FFFFFF"/>
                </a:solidFill>
              </a:defRPr>
            </a:pPr>
            <a:r>
              <a:t>•  Fase B (Rieles 24/7): Soporte especializado para sistemas de compensación instantánea continua (SPEI 24/7 en México, Pix en Brasil, Bre-B en Colombia).</a:t>
            </a:r>
          </a:p>
          <a:p>
            <a:pPr>
              <a:spcAft>
                <a:spcPts val="400"/>
              </a:spcAft>
              <a:defRPr sz="919">
                <a:solidFill>
                  <a:srgbClr val="FFFFFF"/>
                </a:solidFill>
              </a:defRPr>
            </a:pPr>
            <a:r>
              <a:t>•  Fase C (Optimización de FX Dinámico): Incorporación de modelos de aprendizaje por refuerzo restringido para sincronizar conversiones de divisas con ventanas de mejor spread cambiario.</a:t>
            </a:r>
          </a:p>
          <a:p>
            <a:pPr>
              <a:spcAft>
                <a:spcPts val="400"/>
              </a:spcAft>
              <a:defRPr sz="919">
                <a:solidFill>
                  <a:srgbClr val="FFFFFF"/>
                </a:solidFill>
              </a:defRPr>
            </a:pPr>
            <a:r>
              <a:t>•  Fase D (Escalado Panregional): Despliegue de tesorería multi-entidad consolidando operaciones a nivel panregional en toda América Latina.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